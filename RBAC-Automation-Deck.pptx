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3" r:id="rId2"/>
    <p:sldId id="304" r:id="rId3"/>
    <p:sldId id="320" r:id="rId4"/>
    <p:sldId id="364" r:id="rId5"/>
    <p:sldId id="313" r:id="rId6"/>
    <p:sldId id="307" r:id="rId7"/>
    <p:sldId id="308" r:id="rId8"/>
    <p:sldId id="309" r:id="rId9"/>
    <p:sldId id="310" r:id="rId10"/>
    <p:sldId id="315" r:id="rId11"/>
    <p:sldId id="340" r:id="rId12"/>
    <p:sldId id="3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03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4320"/>
            <a:ext cx="2148840" cy="2060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Group-to-Namespace Permission Mapping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2560320"/>
            <a:ext cx="62179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2724912"/>
            <a:ext cx="1463040" cy="237744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724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1.2 &amp; 1.3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47088" y="2724912"/>
            <a:ext cx="1463040" cy="237744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47088" y="2724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IS-20938 Compliant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419856" y="2724912"/>
            <a:ext cx="1463040" cy="237744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19856" y="2724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CaaS Team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92624" y="2724912"/>
            <a:ext cx="1463040" cy="237744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92624" y="27249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1 of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6ADC8-ECD9-2748-92B0-18057C47E91C}"/>
              </a:ext>
            </a:extLst>
          </p:cNvPr>
          <p:cNvSpPr txBox="1"/>
          <p:nvPr/>
        </p:nvSpPr>
        <p:spPr>
          <a:xfrm>
            <a:off x="279400" y="3175000"/>
            <a:ext cx="6223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Calibri"/>
                <a:cs typeface="Calibri"/>
              </a:rPr>
              <a:t>Lateef Onifade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3A85D-CC13-7A44-933B-336410763277}"/>
              </a:ext>
            </a:extLst>
          </p:cNvPr>
          <p:cNvSpPr txBox="1"/>
          <p:nvPr/>
        </p:nvSpPr>
        <p:spPr>
          <a:xfrm>
            <a:off x="279400" y="3556000"/>
            <a:ext cx="622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ADCFC"/>
                </a:solidFill>
                <a:latin typeface="Calibri"/>
                <a:cs typeface="Calibri"/>
              </a:rPr>
              <a:t>Sr. Architect, OCP Team</a:t>
            </a:r>
          </a:p>
        </p:txBody>
      </p:sp>
    </p:spTree>
    <p:extLst>
      <p:ext uri="{BB962C8B-B14F-4D97-AF65-F5344CB8AC3E}">
        <p14:creationId xmlns:p14="http://schemas.microsoft.com/office/powerpoint/2010/main" val="233719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RBAC Automation — Architecture Overview</a:t>
            </a:r>
          </a:p>
        </p:txBody>
      </p:sp>
      <p:sp>
        <p:nvSpPr>
          <p:cNvPr id="4" name="Shape 2"/>
          <p:cNvSpPr/>
          <p:nvPr/>
        </p:nvSpPr>
        <p:spPr>
          <a:xfrm>
            <a:off x="7680960" y="201168"/>
            <a:ext cx="12801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DESIGN</a:t>
            </a:r>
          </a:p>
        </p:txBody>
      </p:sp>
      <p:sp>
        <p:nvSpPr>
          <p:cNvPr id="9" name="Shape 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2 of 10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3FE5C17-95EE-D045-A50A-EB3D6C885BE2}"/>
              </a:ext>
            </a:extLst>
          </p:cNvPr>
          <p:cNvSpPr/>
          <p:nvPr/>
        </p:nvSpPr>
        <p:spPr>
          <a:xfrm>
            <a:off x="1780674" y="711200"/>
            <a:ext cx="5611528" cy="355600"/>
          </a:xfrm>
          <a:prstGeom prst="roundRect">
            <a:avLst/>
          </a:prstGeom>
          <a:solidFill>
            <a:srgbClr val="2E86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OIM — Enterprise Identity (Source of Truth)</a:t>
            </a:r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2E67C761-0813-E541-A7C0-56E60DCDBEA2}"/>
              </a:ext>
            </a:extLst>
          </p:cNvPr>
          <p:cNvSpPr/>
          <p:nvPr/>
        </p:nvSpPr>
        <p:spPr>
          <a:xfrm>
            <a:off x="4445000" y="11938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81CB11F-8CA9-7740-A7C4-7F41E08294B7}"/>
              </a:ext>
            </a:extLst>
          </p:cNvPr>
          <p:cNvSpPr/>
          <p:nvPr/>
        </p:nvSpPr>
        <p:spPr>
          <a:xfrm>
            <a:off x="2300438" y="1473200"/>
            <a:ext cx="4646462" cy="304800"/>
          </a:xfrm>
          <a:prstGeom prst="roundRect">
            <a:avLst/>
          </a:prstGeom>
          <a:solidFill>
            <a:srgbClr val="2E3A5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Calibri"/>
                <a:cs typeface="Calibri"/>
              </a:rPr>
              <a:t>Group Sync Operator</a:t>
            </a: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3B05E03C-5513-1E42-B9D2-07B0BAE29C3F}"/>
              </a:ext>
            </a:extLst>
          </p:cNvPr>
          <p:cNvSpPr/>
          <p:nvPr/>
        </p:nvSpPr>
        <p:spPr>
          <a:xfrm>
            <a:off x="2222500" y="18796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21EE683D-6A5B-0A43-99FB-83DDA949788F}"/>
              </a:ext>
            </a:extLst>
          </p:cNvPr>
          <p:cNvSpPr/>
          <p:nvPr/>
        </p:nvSpPr>
        <p:spPr>
          <a:xfrm>
            <a:off x="6667500" y="189865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654B64-F60F-2749-BDD9-9EDA4E926006}"/>
              </a:ext>
            </a:extLst>
          </p:cNvPr>
          <p:cNvSpPr txBox="1"/>
          <p:nvPr/>
        </p:nvSpPr>
        <p:spPr>
          <a:xfrm>
            <a:off x="381000" y="2006600"/>
            <a:ext cx="393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D4A84B"/>
                </a:solidFill>
                <a:latin typeface="Calibri"/>
                <a:cs typeface="Calibri"/>
              </a:rPr>
              <a:t>NAMESPACE PATH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9BF4D8-B402-1446-9794-6A700BE18EE7}"/>
              </a:ext>
            </a:extLst>
          </p:cNvPr>
          <p:cNvSpPr txBox="1"/>
          <p:nvPr/>
        </p:nvSpPr>
        <p:spPr>
          <a:xfrm>
            <a:off x="4826000" y="2006600"/>
            <a:ext cx="393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D4A84B"/>
                </a:solidFill>
                <a:latin typeface="Calibri"/>
                <a:cs typeface="Calibri"/>
              </a:rPr>
              <a:t>CLUSTER PATH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6482B55-7A55-014B-B0E4-3860A34086C3}"/>
              </a:ext>
            </a:extLst>
          </p:cNvPr>
          <p:cNvSpPr/>
          <p:nvPr/>
        </p:nvSpPr>
        <p:spPr>
          <a:xfrm>
            <a:off x="381000" y="2298700"/>
            <a:ext cx="3937000" cy="330200"/>
          </a:xfrm>
          <a:prstGeom prst="roundRect">
            <a:avLst/>
          </a:prstGeom>
          <a:solidFill>
            <a:srgbClr val="2E3A5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FFFFFF"/>
                </a:solidFill>
                <a:latin typeface="Calibri"/>
                <a:cs typeface="Calibri"/>
              </a:rPr>
              <a:t>Namespace Labels: pnc.net/mnemonic + app-env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DA9BF94-5C88-1745-AD26-8F105A60844B}"/>
              </a:ext>
            </a:extLst>
          </p:cNvPr>
          <p:cNvSpPr/>
          <p:nvPr/>
        </p:nvSpPr>
        <p:spPr>
          <a:xfrm>
            <a:off x="4826000" y="2298700"/>
            <a:ext cx="3937000" cy="330200"/>
          </a:xfrm>
          <a:prstGeom prst="roundRect">
            <a:avLst/>
          </a:prstGeom>
          <a:solidFill>
            <a:srgbClr val="2E3A5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Calibri"/>
                <a:cs typeface="Calibri"/>
              </a:rPr>
              <a:t>AD Groups: app-</a:t>
            </a:r>
            <a:r>
              <a:rPr lang="en-US" sz="1000" dirty="0" err="1">
                <a:solidFill>
                  <a:srgbClr val="FFFFFF"/>
                </a:solidFill>
                <a:latin typeface="Calibri"/>
                <a:cs typeface="Calibri"/>
              </a:rPr>
              <a:t>ocp</a:t>
            </a:r>
            <a:r>
              <a:rPr lang="en-US" sz="1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lang="en-US" sz="1000" dirty="0" err="1">
                <a:solidFill>
                  <a:srgbClr val="FFFFFF"/>
                </a:solidFill>
                <a:latin typeface="Calibri"/>
                <a:cs typeface="Calibri"/>
              </a:rPr>
              <a:t>rbac</a:t>
            </a:r>
            <a:r>
              <a:rPr lang="en-US" sz="1000" dirty="0">
                <a:solidFill>
                  <a:srgbClr val="FFFFFF"/>
                </a:solidFill>
                <a:latin typeface="Calibri"/>
                <a:cs typeface="Calibri"/>
              </a:rPr>
              <a:t>-{mnemonic}-cluster-{role}</a:t>
            </a:r>
          </a:p>
        </p:txBody>
      </p:sp>
      <p:sp>
        <p:nvSpPr>
          <p:cNvPr id="59" name="Down Arrow 58">
            <a:extLst>
              <a:ext uri="{FF2B5EF4-FFF2-40B4-BE49-F238E27FC236}">
                <a16:creationId xmlns:a16="http://schemas.microsoft.com/office/drawing/2014/main" id="{79BF550D-693A-8145-A76A-91DCD4428AD0}"/>
              </a:ext>
            </a:extLst>
          </p:cNvPr>
          <p:cNvSpPr/>
          <p:nvPr/>
        </p:nvSpPr>
        <p:spPr>
          <a:xfrm>
            <a:off x="2222500" y="27178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Down Arrow 59">
            <a:extLst>
              <a:ext uri="{FF2B5EF4-FFF2-40B4-BE49-F238E27FC236}">
                <a16:creationId xmlns:a16="http://schemas.microsoft.com/office/drawing/2014/main" id="{CE2871A5-BFF8-6D48-B1A2-E52DE734534F}"/>
              </a:ext>
            </a:extLst>
          </p:cNvPr>
          <p:cNvSpPr/>
          <p:nvPr/>
        </p:nvSpPr>
        <p:spPr>
          <a:xfrm>
            <a:off x="6667500" y="27178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135E34-6FEC-C348-8546-070B4A0E9882}"/>
              </a:ext>
            </a:extLst>
          </p:cNvPr>
          <p:cNvSpPr txBox="1"/>
          <p:nvPr/>
        </p:nvSpPr>
        <p:spPr>
          <a:xfrm>
            <a:off x="2501900" y="2730500"/>
            <a:ext cx="1143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C0392B"/>
                </a:solidFill>
                <a:latin typeface="Calibri"/>
                <a:cs typeface="Calibri"/>
              </a:rPr>
              <a:t>watches labels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FA0A7B-BD88-9D4F-9AE5-3AC8D2479828}"/>
              </a:ext>
            </a:extLst>
          </p:cNvPr>
          <p:cNvSpPr txBox="1"/>
          <p:nvPr/>
        </p:nvSpPr>
        <p:spPr>
          <a:xfrm>
            <a:off x="6946900" y="2730500"/>
            <a:ext cx="1143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C0392B"/>
                </a:solidFill>
                <a:latin typeface="Calibri"/>
                <a:cs typeface="Calibri"/>
              </a:rPr>
              <a:t>watches groups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5D901D9-74E6-EB41-8F0D-E581B60D1698}"/>
              </a:ext>
            </a:extLst>
          </p:cNvPr>
          <p:cNvSpPr/>
          <p:nvPr/>
        </p:nvSpPr>
        <p:spPr>
          <a:xfrm>
            <a:off x="381000" y="2997200"/>
            <a:ext cx="3937000" cy="330200"/>
          </a:xfrm>
          <a:prstGeom prst="roundRect">
            <a:avLst/>
          </a:prstGeom>
          <a:solidFill>
            <a:srgbClr val="1B7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Namespace Configuration Operator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4846552-FE33-524C-A1C0-7E7FC91CC0A8}"/>
              </a:ext>
            </a:extLst>
          </p:cNvPr>
          <p:cNvSpPr/>
          <p:nvPr/>
        </p:nvSpPr>
        <p:spPr>
          <a:xfrm>
            <a:off x="4826000" y="2997200"/>
            <a:ext cx="3937000" cy="330200"/>
          </a:xfrm>
          <a:prstGeom prst="roundRect">
            <a:avLst/>
          </a:prstGeom>
          <a:solidFill>
            <a:srgbClr val="1B7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 err="1">
                <a:solidFill>
                  <a:srgbClr val="FFFFFF"/>
                </a:solidFill>
                <a:latin typeface="Calibri"/>
                <a:cs typeface="Calibri"/>
              </a:rPr>
              <a:t>GroupConfig</a:t>
            </a: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 Operator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20FAE5B3-6626-8B4C-8CA9-13BB74BF1868}"/>
              </a:ext>
            </a:extLst>
          </p:cNvPr>
          <p:cNvSpPr/>
          <p:nvPr/>
        </p:nvSpPr>
        <p:spPr>
          <a:xfrm>
            <a:off x="2222500" y="34036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Down Arrow 65">
            <a:extLst>
              <a:ext uri="{FF2B5EF4-FFF2-40B4-BE49-F238E27FC236}">
                <a16:creationId xmlns:a16="http://schemas.microsoft.com/office/drawing/2014/main" id="{3054B950-8C01-0247-B015-AC4CB23F059D}"/>
              </a:ext>
            </a:extLst>
          </p:cNvPr>
          <p:cNvSpPr/>
          <p:nvPr/>
        </p:nvSpPr>
        <p:spPr>
          <a:xfrm>
            <a:off x="6667500" y="3403600"/>
            <a:ext cx="304800" cy="203200"/>
          </a:xfrm>
          <a:prstGeom prst="downArrow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28024B-FCF6-014B-B274-EF8B6A4D8485}"/>
              </a:ext>
            </a:extLst>
          </p:cNvPr>
          <p:cNvSpPr txBox="1"/>
          <p:nvPr/>
        </p:nvSpPr>
        <p:spPr>
          <a:xfrm>
            <a:off x="2501900" y="3416300"/>
            <a:ext cx="1270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C0392B"/>
                </a:solidFill>
                <a:latin typeface="Calibri"/>
                <a:cs typeface="Calibri"/>
              </a:rPr>
              <a:t>auto-generates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027AE1-FC97-C84D-9FFB-47FFBE3D9AF0}"/>
              </a:ext>
            </a:extLst>
          </p:cNvPr>
          <p:cNvSpPr txBox="1"/>
          <p:nvPr/>
        </p:nvSpPr>
        <p:spPr>
          <a:xfrm>
            <a:off x="6946900" y="3416300"/>
            <a:ext cx="1270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00">
                <a:solidFill>
                  <a:srgbClr val="C0392B"/>
                </a:solidFill>
                <a:latin typeface="Calibri"/>
                <a:cs typeface="Calibri"/>
              </a:rPr>
              <a:t>auto-generates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D0880896-A3BA-2149-B150-2A4C97342811}"/>
              </a:ext>
            </a:extLst>
          </p:cNvPr>
          <p:cNvSpPr/>
          <p:nvPr/>
        </p:nvSpPr>
        <p:spPr>
          <a:xfrm>
            <a:off x="381000" y="3733800"/>
            <a:ext cx="3937000" cy="3302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RoleBindings (per namespace)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A78DED6-D6CA-5F4A-B676-F7FC33850CEF}"/>
              </a:ext>
            </a:extLst>
          </p:cNvPr>
          <p:cNvSpPr/>
          <p:nvPr/>
        </p:nvSpPr>
        <p:spPr>
          <a:xfrm>
            <a:off x="4826000" y="3733800"/>
            <a:ext cx="3937000" cy="3302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100" b="1" dirty="0" err="1">
                <a:solidFill>
                  <a:srgbClr val="FFFFFF"/>
                </a:solidFill>
                <a:latin typeface="Calibri"/>
                <a:cs typeface="Calibri"/>
              </a:rPr>
              <a:t>ClusterRoleBindings</a:t>
            </a: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 (cluster-wide)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9351E28-EA4D-CD45-BBA4-F62AB27567AB}"/>
              </a:ext>
            </a:extLst>
          </p:cNvPr>
          <p:cNvSpPr/>
          <p:nvPr/>
        </p:nvSpPr>
        <p:spPr>
          <a:xfrm>
            <a:off x="228600" y="4241800"/>
            <a:ext cx="8686800" cy="304800"/>
          </a:xfrm>
          <a:prstGeom prst="roundRect">
            <a:avLst/>
          </a:prstGeom>
          <a:solidFill>
            <a:srgbClr val="CADC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F00EC1-0374-5A47-A9A3-FCC0ECED261C}"/>
              </a:ext>
            </a:extLst>
          </p:cNvPr>
          <p:cNvSpPr txBox="1"/>
          <p:nvPr/>
        </p:nvSpPr>
        <p:spPr>
          <a:xfrm>
            <a:off x="355600" y="4241800"/>
            <a:ext cx="843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1E2761"/>
                </a:solidFill>
                <a:latin typeface="Calibri"/>
                <a:cs typeface="Calibri"/>
              </a:rPr>
              <a:t>Two automation paths — Namespace Path for MIS teams · Cluster Path for the CaaS team · Both driven by OIM · Both fully automated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5E1E63-6322-554D-831E-47EFAABF1698}"/>
              </a:ext>
            </a:extLst>
          </p:cNvPr>
          <p:cNvSpPr txBox="1"/>
          <p:nvPr/>
        </p:nvSpPr>
        <p:spPr>
          <a:xfrm>
            <a:off x="4800600" y="1206500"/>
            <a:ext cx="139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C0392B"/>
                </a:solidFill>
                <a:latin typeface="Calibri"/>
                <a:cs typeface="Calibri"/>
              </a:rPr>
              <a:t>syncs LDAP groups</a:t>
            </a:r>
          </a:p>
        </p:txBody>
      </p:sp>
    </p:spTree>
    <p:extLst>
      <p:ext uri="{BB962C8B-B14F-4D97-AF65-F5344CB8AC3E}">
        <p14:creationId xmlns:p14="http://schemas.microsoft.com/office/powerpoint/2010/main" val="14987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 Solved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298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Manual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840480" cy="234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access tracked manually by platform team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users across 70+ clusters and counting — tedious and error-prone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authoritative identity system driving permissions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changes dependent on engineer availability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audit trail — who had access, when?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with IS-20938 requirements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298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2004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Organization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3840480" cy="234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bottleneck for every access request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managers escalate frequently due to access delays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risk — access not tied to enterprise identity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access policies across teams and environments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gaps — revocation not guaranteed or timely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911600"/>
            <a:ext cx="845820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91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issue has existed since 2018 when OCP went live — every access change required a manual ticket to CaaS. Not scalable, not auditable, not compliant.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3 of 10</a:t>
            </a:r>
          </a:p>
        </p:txBody>
      </p:sp>
    </p:spTree>
    <p:extLst>
      <p:ext uri="{BB962C8B-B14F-4D97-AF65-F5344CB8AC3E}">
        <p14:creationId xmlns:p14="http://schemas.microsoft.com/office/powerpoint/2010/main" val="263014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Tools &amp; Technologies</a:t>
            </a:r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TOOLING</a:t>
            </a:r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</a:rPr>
              <a:t>Slide 4 of 12</a:t>
            </a:r>
          </a:p>
        </p:txBody>
      </p:sp>
      <p:sp>
        <p:nvSpPr>
          <p:cNvPr id="30" name="Card 0"/>
          <p:cNvSpPr/>
          <p:nvPr/>
        </p:nvSpPr>
        <p:spPr>
          <a:xfrm>
            <a:off x="228600" y="7874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80" name="Accent 0"/>
          <p:cNvSpPr/>
          <p:nvPr/>
        </p:nvSpPr>
        <p:spPr>
          <a:xfrm>
            <a:off x="228600" y="7874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31" name="Name 0"/>
          <p:cNvSpPr/>
          <p:nvPr/>
        </p:nvSpPr>
        <p:spPr>
          <a:xfrm>
            <a:off x="965200" y="9906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OIM</a:t>
            </a:r>
          </a:p>
        </p:txBody>
      </p:sp>
      <p:sp>
        <p:nvSpPr>
          <p:cNvPr id="230" name="Desc 0"/>
          <p:cNvSpPr/>
          <p:nvPr/>
        </p:nvSpPr>
        <p:spPr>
          <a:xfrm>
            <a:off x="406400" y="13970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LDAP Frontend — Enterprise Identity Self Service</a:t>
            </a:r>
          </a:p>
        </p:txBody>
      </p:sp>
      <p:sp>
        <p:nvSpPr>
          <p:cNvPr id="32" name="Card 1"/>
          <p:cNvSpPr/>
          <p:nvPr/>
        </p:nvSpPr>
        <p:spPr>
          <a:xfrm>
            <a:off x="3175000" y="7874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82" name="Accent 1"/>
          <p:cNvSpPr/>
          <p:nvPr/>
        </p:nvSpPr>
        <p:spPr>
          <a:xfrm>
            <a:off x="3175000" y="7874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33" name="Name 1"/>
          <p:cNvSpPr/>
          <p:nvPr/>
        </p:nvSpPr>
        <p:spPr>
          <a:xfrm>
            <a:off x="3911600" y="9906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OpenShift (OCP)</a:t>
            </a:r>
          </a:p>
        </p:txBody>
      </p:sp>
      <p:sp>
        <p:nvSpPr>
          <p:cNvPr id="232" name="Desc 1"/>
          <p:cNvSpPr/>
          <p:nvPr/>
        </p:nvSpPr>
        <p:spPr>
          <a:xfrm>
            <a:off x="3352800" y="13970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Container Platform — Kubernetes at enterprise scale</a:t>
            </a:r>
          </a:p>
        </p:txBody>
      </p:sp>
      <p:sp>
        <p:nvSpPr>
          <p:cNvPr id="34" name="Card 2"/>
          <p:cNvSpPr/>
          <p:nvPr/>
        </p:nvSpPr>
        <p:spPr>
          <a:xfrm>
            <a:off x="6121400" y="7874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84" name="Accent 2"/>
          <p:cNvSpPr/>
          <p:nvPr/>
        </p:nvSpPr>
        <p:spPr>
          <a:xfrm>
            <a:off x="6121400" y="7874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35" name="Name 2"/>
          <p:cNvSpPr/>
          <p:nvPr/>
        </p:nvSpPr>
        <p:spPr>
          <a:xfrm>
            <a:off x="6858000" y="9906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Group Sync Operator</a:t>
            </a:r>
          </a:p>
        </p:txBody>
      </p:sp>
      <p:sp>
        <p:nvSpPr>
          <p:cNvPr id="234" name="Desc 2"/>
          <p:cNvSpPr/>
          <p:nvPr/>
        </p:nvSpPr>
        <p:spPr>
          <a:xfrm>
            <a:off x="6299200" y="13970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Syncs AD/LDAP groups into OpenShift clusters</a:t>
            </a:r>
          </a:p>
        </p:txBody>
      </p:sp>
      <p:sp>
        <p:nvSpPr>
          <p:cNvPr id="36" name="Card 3"/>
          <p:cNvSpPr/>
          <p:nvPr/>
        </p:nvSpPr>
        <p:spPr>
          <a:xfrm>
            <a:off x="228600" y="25019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86" name="Accent 3"/>
          <p:cNvSpPr/>
          <p:nvPr/>
        </p:nvSpPr>
        <p:spPr>
          <a:xfrm>
            <a:off x="228600" y="25019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6B5EA8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37" name="Name 3"/>
          <p:cNvSpPr/>
          <p:nvPr/>
        </p:nvSpPr>
        <p:spPr>
          <a:xfrm>
            <a:off x="965200" y="27051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Namespace Config Operator</a:t>
            </a:r>
          </a:p>
        </p:txBody>
      </p:sp>
      <p:sp>
        <p:nvSpPr>
          <p:cNvPr id="236" name="Desc 3"/>
          <p:cNvSpPr/>
          <p:nvPr/>
        </p:nvSpPr>
        <p:spPr>
          <a:xfrm>
            <a:off x="406400" y="31115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RBAC Policy Engine — PNC customized version</a:t>
            </a:r>
          </a:p>
        </p:txBody>
      </p:sp>
      <p:sp>
        <p:nvSpPr>
          <p:cNvPr id="38" name="Card 4"/>
          <p:cNvSpPr/>
          <p:nvPr/>
        </p:nvSpPr>
        <p:spPr>
          <a:xfrm>
            <a:off x="3175000" y="25019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88" name="Accent 4"/>
          <p:cNvSpPr/>
          <p:nvPr/>
        </p:nvSpPr>
        <p:spPr>
          <a:xfrm>
            <a:off x="3175000" y="25019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39" name="Name 4"/>
          <p:cNvSpPr/>
          <p:nvPr/>
        </p:nvSpPr>
        <p:spPr>
          <a:xfrm>
            <a:off x="3911600" y="27051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Helm Charts</a:t>
            </a:r>
          </a:p>
        </p:txBody>
      </p:sp>
      <p:sp>
        <p:nvSpPr>
          <p:cNvPr id="238" name="Desc 4"/>
          <p:cNvSpPr/>
          <p:nvPr/>
        </p:nvSpPr>
        <p:spPr>
          <a:xfrm>
            <a:off x="3352800" y="31115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Packaging — Customized charts for deployment</a:t>
            </a:r>
          </a:p>
        </p:txBody>
      </p:sp>
      <p:sp>
        <p:nvSpPr>
          <p:cNvPr id="40" name="Card 5"/>
          <p:cNvSpPr/>
          <p:nvPr/>
        </p:nvSpPr>
        <p:spPr>
          <a:xfrm>
            <a:off x="6121400" y="2501900"/>
            <a:ext cx="2794000" cy="15875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lIns="0" tIns="0" rIns="0" bIns="0" anchor="t"/>
          <a:lstStyle/>
          <a:p>
            <a:endParaRPr lang="en-US" sz="100" dirty="0"/>
          </a:p>
        </p:txBody>
      </p:sp>
      <p:sp>
        <p:nvSpPr>
          <p:cNvPr id="90" name="Accent 5"/>
          <p:cNvSpPr/>
          <p:nvPr/>
        </p:nvSpPr>
        <p:spPr>
          <a:xfrm>
            <a:off x="6121400" y="2501900"/>
            <a:ext cx="2794000" cy="762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41" name="Name 5"/>
          <p:cNvSpPr/>
          <p:nvPr/>
        </p:nvSpPr>
        <p:spPr>
          <a:xfrm>
            <a:off x="6858000" y="2705100"/>
            <a:ext cx="190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</a:rPr>
              <a:t>ArgoCD + GitOps</a:t>
            </a:r>
          </a:p>
        </p:txBody>
      </p:sp>
      <p:sp>
        <p:nvSpPr>
          <p:cNvPr id="240" name="Desc 5"/>
          <p:cNvSpPr/>
          <p:nvPr/>
        </p:nvSpPr>
        <p:spPr>
          <a:xfrm>
            <a:off x="6299200" y="3111500"/>
            <a:ext cx="24384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0" rIns="3600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CI/CD — Continuous deployment and drift reconciliation</a:t>
            </a:r>
          </a:p>
        </p:txBody>
      </p:sp>
      <p:sp>
        <p:nvSpPr>
          <p:cNvPr id="50" name="Note Banner"/>
          <p:cNvSpPr/>
          <p:nvPr/>
        </p:nvSpPr>
        <p:spPr>
          <a:xfrm>
            <a:off x="228600" y="4216400"/>
            <a:ext cx="8686800" cy="381000"/>
          </a:xfrm>
          <a:prstGeom prst="roundRect">
            <a:avLst>
              <a:gd name="adj" fmla="val 10000"/>
            </a:avLst>
          </a:prstGeom>
          <a:solidFill>
            <a:srgbClr val="2E3A59"/>
          </a:solidFill>
          <a:ln w="0"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</a:rPr>
              <a:t>All components are Red Hat backed open-source foundations with PNC enterprise customizations — packaged, versioned, and deployed via GitOps</a:t>
            </a:r>
          </a:p>
        </p:txBody>
      </p:sp>
      <p:pic>
        <p:nvPicPr>
          <p:cNvPr id="241" name="Graphic 2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" y="914400"/>
            <a:ext cx="304800" cy="304800"/>
          </a:xfrm>
          <a:prstGeom prst="rect">
            <a:avLst/>
          </a:prstGeom>
        </p:spPr>
      </p:pic>
      <p:pic>
        <p:nvPicPr>
          <p:cNvPr id="244" name="Graphic 2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2628900"/>
            <a:ext cx="304800" cy="30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848C0C-BA7C-0B64-E250-3F726E09C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914400"/>
            <a:ext cx="285193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20E519-ABD1-55CD-92D1-A23FE5DA8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0" y="2628900"/>
            <a:ext cx="304800" cy="30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A91A80-167B-7ECA-7CCA-81E8349A7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2628900"/>
            <a:ext cx="3048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FE6990-4976-B65C-5551-43505A784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914400"/>
            <a:ext cx="33528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90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278892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261872"/>
            <a:ext cx="256032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governed through OIM Identity Self Service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group membership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in OIM automatically revokes OpenShift access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777240"/>
            <a:ext cx="278892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Provisioning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261872"/>
            <a:ext cx="256032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OIM approval triggers automatic RoleBinding creation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engineer touches RBAC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operator-stamped audit trail on every binding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777240"/>
            <a:ext cx="2788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41148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777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1261872"/>
            <a:ext cx="256032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request their own access through OIM portal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 owner approves — access active on next sync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to the OCP CaaS team required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Zero-touch rollout for newly onboarded clusters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089400"/>
            <a:ext cx="84582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089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 ·  IS-20938 Compliant  ·  Zero manual RBAC administration  ·  Scalable to any mnemonic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4 of 10</a:t>
            </a:r>
          </a:p>
        </p:txBody>
      </p:sp>
    </p:spTree>
    <p:extLst>
      <p:ext uri="{BB962C8B-B14F-4D97-AF65-F5344CB8AC3E}">
        <p14:creationId xmlns:p14="http://schemas.microsoft.com/office/powerpoint/2010/main" val="271603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Automation Stack — Reference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80960" y="201168"/>
            <a:ext cx="12801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979" y="749808"/>
            <a:ext cx="3910042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572000"/>
            <a:ext cx="8458200" cy="164592"/>
          </a:xfrm>
          <a:prstGeom prst="rect">
            <a:avLst/>
          </a:prstGeom>
          <a:solidFill>
            <a:srgbClr val="CADC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57200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automation paths — Namespace Path for application teams · Cluster Path for the OCP CaaS team · Both driven by OIM · Both fully automated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5 of 10</a:t>
            </a:r>
          </a:p>
        </p:txBody>
      </p:sp>
    </p:spTree>
    <p:extLst>
      <p:ext uri="{BB962C8B-B14F-4D97-AF65-F5344CB8AC3E}">
        <p14:creationId xmlns:p14="http://schemas.microsoft.com/office/powerpoint/2010/main" val="331360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The Namespace Config Operator</a:t>
            </a:r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solidFill>
            <a:srgbClr val="2E86A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solidFill>
            <a:srgbClr val="6C757D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Imperative Commands</a:t>
            </a:r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run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</a:rPr>
              <a:t>oc adm policy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commands manually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namespace requires individual RBAC setup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live in runbooks, not in version control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 detection — config diverges silently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one-shot — no continuous reconciliation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20040"/>
          </a:xfrm>
          <a:prstGeom prst="rect">
            <a:avLst/>
          </a:prstGeom>
          <a:solidFill>
            <a:srgbClr val="1B7A4A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Namespace Config Operator</a:t>
            </a:r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defined as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</a:rPr>
              <a:t>NamespaceConfig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</a:rPr>
              <a:t>GroupConfig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CRDs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watches namespace labels and group patterns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RoleBindings auto-generated and continuously reconciled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self-healing — operator restores desired state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versioned, reviewable, and repeatable</a:t>
            </a:r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845820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Hat Namespace Config Operator turns RBAC policy into declarative CRDs — one policy definition governs every namespace automatically.</a:t>
            </a:r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6 of 10</a:t>
            </a:r>
          </a:p>
        </p:txBody>
      </p:sp>
    </p:spTree>
    <p:extLst>
      <p:ext uri="{BB962C8B-B14F-4D97-AF65-F5344CB8AC3E}">
        <p14:creationId xmlns:p14="http://schemas.microsoft.com/office/powerpoint/2010/main" val="401413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Automation Stack — Implementation Detail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865" y="731520"/>
            <a:ext cx="346427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370832"/>
            <a:ext cx="283464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" y="4370832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pnc.net/mnemonic + app-env  →  triggers NamespaceConfig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154680" y="4370832"/>
            <a:ext cx="2834640" cy="32004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54680" y="4370832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app-ocp-rbac-{m}-cluster-{role}  →  triggers GroupConfig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80760" y="4370832"/>
            <a:ext cx="28346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4370832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prod restrictions enforced declaratively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7 of 10</a:t>
            </a:r>
          </a:p>
        </p:txBody>
      </p:sp>
    </p:spTree>
    <p:extLst>
      <p:ext uri="{BB962C8B-B14F-4D97-AF65-F5344CB8AC3E}">
        <p14:creationId xmlns:p14="http://schemas.microsoft.com/office/powerpoint/2010/main" val="32472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RND — DAA Mnemonic Case Study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201168"/>
            <a:ext cx="128016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0624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cluster output — daa-rnd namespace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170432"/>
            <a:ext cx="4023360" cy="1485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GROUP                    ROLE  CREATED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daa-admin-rb      ...daa-ns-admin           admin 01:49:27Z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daa-audit-rb      ...daa-ns-audit           view  01:49:37Z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daa-developer-rb  ...daa-ns-developer       edit  01:49:01Z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metadata proves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73168" y="1188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rbac.ocp.io/created-by: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73168" y="1371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namespace-configuration-operator — not manually created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5910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rbac.ocp.io/group-pattern: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17739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app-ocp-rbac-daa-ns-developer — mnemonic resolved automatically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993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rbac.ocp.io/environment-restriction: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73168" y="21762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nonprod-only — correct policy branch applied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23957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rbac.ocp.io/source-namespaceconfig: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73168" y="25786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nonprod-namespaceconfig-rbac — fully traceable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46400"/>
            <a:ext cx="84582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94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RoleBindings created within 36 seconds of a single namespace labeling event. Zero manual commands issued after labeling.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517900"/>
            <a:ext cx="8458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3517900"/>
            <a:ext cx="8458200" cy="27432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351790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— ocp mnemonic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8227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-cluster-admin-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crb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cluster-admin       admin     app-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-cluster-admin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app-ocp-rbac-ocp-cluster-developer-crb   cluster-developer   edit      app-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-cluster-developer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-cluster-audit-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crb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cluster-audit       view      app-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</a:t>
            </a: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-cluster-audit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8 of 10</a:t>
            </a:r>
          </a:p>
        </p:txBody>
      </p:sp>
    </p:spTree>
    <p:extLst>
      <p:ext uri="{BB962C8B-B14F-4D97-AF65-F5344CB8AC3E}">
        <p14:creationId xmlns:p14="http://schemas.microsoft.com/office/powerpoint/2010/main" val="394514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3A59"/>
          </a:solidFill>
          <a:ln w="12700">
            <a:solidFill>
              <a:srgbClr val="2E3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51960" cy="1783080"/>
          </a:xfrm>
          <a:prstGeom prst="rect">
            <a:avLst/>
          </a:prstGeom>
          <a:solidFill>
            <a:srgbClr val="1E2F52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25196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Application Teams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6128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access through OIM portal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active within one sync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revocation on offboarding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1728" y="777240"/>
            <a:ext cx="4251960" cy="1783080"/>
          </a:xfrm>
          <a:prstGeom prst="rect">
            <a:avLst/>
          </a:prstGeom>
          <a:solidFill>
            <a:srgbClr val="1E2F52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777240"/>
            <a:ext cx="4251960" cy="320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777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OCP CaaS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16128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RoleBinding administration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bottleneck or support tickets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teams self-serve — no dependency on CaaS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by automating common day-2 request processes</a:t>
            </a:r>
          </a:p>
        </p:txBody>
      </p:sp>
      <p:sp>
        <p:nvSpPr>
          <p:cNvPr id="14" name="Shape 12"/>
          <p:cNvSpPr/>
          <p:nvPr/>
        </p:nvSpPr>
        <p:spPr>
          <a:xfrm>
            <a:off x="228600" y="2633980"/>
            <a:ext cx="4251960" cy="1783080"/>
          </a:xfrm>
          <a:prstGeom prst="rect">
            <a:avLst/>
          </a:prstGeom>
          <a:solidFill>
            <a:srgbClr val="1E2F52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633980"/>
            <a:ext cx="4251960" cy="32004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6339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Security and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01802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operator-stamped audit trail on every binding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all RBAC rules are declarative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restrictions enforced automatically</a:t>
            </a:r>
          </a:p>
        </p:txBody>
      </p:sp>
      <p:sp>
        <p:nvSpPr>
          <p:cNvPr id="18" name="Shape 16"/>
          <p:cNvSpPr/>
          <p:nvPr/>
        </p:nvSpPr>
        <p:spPr>
          <a:xfrm>
            <a:off x="4681728" y="2633980"/>
            <a:ext cx="4251960" cy="1783080"/>
          </a:xfrm>
          <a:prstGeom prst="rect">
            <a:avLst/>
          </a:prstGeom>
          <a:solidFill>
            <a:srgbClr val="1E2F52"/>
          </a:solidFill>
          <a:ln w="12700">
            <a:solidFill>
              <a:srgbClr val="DD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2633980"/>
            <a:ext cx="42519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26339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Enterprise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3018028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IS-20938 compliant centralized access control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versioned, reviewable, repeatable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OIM as single source of truth across OpenShift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hours of manual effort per week across teams</a:t>
            </a:r>
          </a:p>
        </p:txBody>
      </p:sp>
      <p:sp>
        <p:nvSpPr>
          <p:cNvPr id="22" name="Shape 20"/>
          <p:cNvSpPr/>
          <p:nvPr/>
        </p:nvSpPr>
        <p:spPr>
          <a:xfrm>
            <a:off x="228600" y="4445000"/>
            <a:ext cx="845820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445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— IS-20938 compliant, fully automated, and removes all manual RBAC management permanently.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9 of 10</a:t>
            </a:r>
          </a:p>
        </p:txBody>
      </p:sp>
    </p:spTree>
    <p:extLst>
      <p:ext uri="{BB962C8B-B14F-4D97-AF65-F5344CB8AC3E}">
        <p14:creationId xmlns:p14="http://schemas.microsoft.com/office/powerpoint/2010/main" val="165786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Group Creation by Mnemonic Owner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solidFill>
            <a:srgbClr val="6B5EA8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</a:rPr>
              <a:t>Slide 10 of 11</a:t>
            </a:r>
          </a:p>
        </p:txBody>
      </p:sp>
      <p:sp>
        <p:nvSpPr>
          <p:cNvPr id="100" name="Section Header"/>
          <p:cNvSpPr/>
          <p:nvPr/>
        </p:nvSpPr>
        <p:spPr>
          <a:xfrm>
            <a:off x="228600" y="736600"/>
            <a:ext cx="8686800" cy="381000"/>
          </a:xfrm>
          <a:prstGeom prst="roundRect">
            <a:avLst>
              <a:gd name="adj" fmla="val 8000"/>
            </a:avLst>
          </a:prstGeom>
          <a:solidFill>
            <a:srgbClr val="2E3A59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Next Phase: Mnemonic-Owner-Based Group Creation</a:t>
            </a:r>
          </a:p>
        </p:txBody>
      </p:sp>
      <p:sp>
        <p:nvSpPr>
          <p:cNvPr id="101" name="Step 1"/>
          <p:cNvSpPr/>
          <p:nvPr/>
        </p:nvSpPr>
        <p:spPr>
          <a:xfrm>
            <a:off x="228600" y="1244600"/>
            <a:ext cx="2590800" cy="101600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1. Identify Owner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</a:rPr>
              <a:t>Pull mnemonic owner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</a:rPr>
              <a:t>from CMDB / ServiceNow</a:t>
            </a:r>
          </a:p>
        </p:txBody>
      </p:sp>
      <p:sp>
        <p:nvSpPr>
          <p:cNvPr id="102" name="Arrow 1"/>
          <p:cNvSpPr/>
          <p:nvPr/>
        </p:nvSpPr>
        <p:spPr>
          <a:xfrm>
            <a:off x="2870200" y="1625600"/>
            <a:ext cx="330200" cy="254000"/>
          </a:xfrm>
          <a:prstGeom prst="rightArrow">
            <a:avLst/>
          </a:prstGeom>
          <a:solidFill>
            <a:srgbClr val="6B5E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tep 2"/>
          <p:cNvSpPr/>
          <p:nvPr/>
        </p:nvSpPr>
        <p:spPr>
          <a:xfrm>
            <a:off x="3251200" y="1244600"/>
            <a:ext cx="2590800" cy="1016000"/>
          </a:xfrm>
          <a:prstGeom prst="roundRect">
            <a:avLst>
              <a:gd name="adj" fmla="val 8000"/>
            </a:avLst>
          </a:prstGeom>
          <a:solidFill>
            <a:srgbClr val="6B5EA8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2. Create AD Groups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</a:rPr>
              <a:t>Auto-generate RBAC groups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</a:rPr>
              <a:t>per mnemonic + namespace</a:t>
            </a:r>
          </a:p>
        </p:txBody>
      </p:sp>
      <p:sp>
        <p:nvSpPr>
          <p:cNvPr id="104" name="Arrow 2"/>
          <p:cNvSpPr/>
          <p:nvPr/>
        </p:nvSpPr>
        <p:spPr>
          <a:xfrm>
            <a:off x="5892800" y="1625600"/>
            <a:ext cx="330200" cy="254000"/>
          </a:xfrm>
          <a:prstGeom prst="rightArrow">
            <a:avLst/>
          </a:prstGeom>
          <a:solidFill>
            <a:srgbClr val="6B5E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tep 3"/>
          <p:cNvSpPr/>
          <p:nvPr/>
        </p:nvSpPr>
        <p:spPr>
          <a:xfrm>
            <a:off x="6273800" y="1244600"/>
            <a:ext cx="2590800" cy="1016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3. Bind to Namespaces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Handled by NamespaceConfig CRD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via Namespace Configuration Operator</a:t>
            </a:r>
          </a:p>
        </p:txBody>
      </p:sp>
      <p:sp>
        <p:nvSpPr>
          <p:cNvPr id="110" name="What Changes Header"/>
          <p:cNvSpPr/>
          <p:nvPr/>
        </p:nvSpPr>
        <p:spPr>
          <a:xfrm>
            <a:off x="228600" y="2438400"/>
            <a:ext cx="4318000" cy="35560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  What Changes</a:t>
            </a:r>
          </a:p>
        </p:txBody>
      </p:sp>
      <p:sp>
        <p:nvSpPr>
          <p:cNvPr id="111" name="What Changes Body"/>
          <p:cNvSpPr/>
          <p:nvPr/>
        </p:nvSpPr>
        <p:spPr>
          <a:xfrm>
            <a:off x="228600" y="2794000"/>
            <a:ext cx="4318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54000" rIns="72000" bIns="36000" anchor="t"/>
          <a:lstStyle/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Group naming: app-ocp-rbac-{mnemonic}-{ns}-{role}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Owner auto-assigned from CMDB mnemonic owner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Namespace-scoped RoleBindings only (no ClusterRoles)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Self-service onboarding for new mnemonics</a:t>
            </a:r>
          </a:p>
        </p:txBody>
      </p:sp>
      <p:sp>
        <p:nvSpPr>
          <p:cNvPr id="112" name="Dev Action Header"/>
          <p:cNvSpPr/>
          <p:nvPr/>
        </p:nvSpPr>
        <p:spPr>
          <a:xfrm>
            <a:off x="4749800" y="2438400"/>
            <a:ext cx="4318000" cy="355600"/>
          </a:xfrm>
          <a:prstGeom prst="roundRect">
            <a:avLst/>
          </a:prstGeom>
          <a:solidFill>
            <a:srgbClr val="1D9E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  Developer Action Required</a:t>
            </a:r>
          </a:p>
        </p:txBody>
      </p:sp>
      <p:sp>
        <p:nvSpPr>
          <p:cNvPr id="113" name="Dev Action Body"/>
          <p:cNvSpPr/>
          <p:nvPr/>
        </p:nvSpPr>
        <p:spPr>
          <a:xfrm>
            <a:off x="4749800" y="2794000"/>
            <a:ext cx="4318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54000" rIns="72000" bIns="36000" anchor="t"/>
          <a:lstStyle/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Confirm mnemonic ownership in ServiceNow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Request group creation via self-service portal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Validate bindings in non-prod before promotion</a:t>
            </a:r>
          </a:p>
          <a:p>
            <a:pPr marL="228600" indent="-228600">
              <a:spcBef>
                <a:spcPts val="300"/>
              </a:spcBef>
              <a:spcAft>
                <a:spcPts val="100"/>
              </a:spcAft>
              <a:buFont typeface="Arial"/>
              <a:buChar char="•"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</a:rPr>
              <a:t>Review updated RBAC roles assigned to your team</a:t>
            </a:r>
          </a:p>
        </p:txBody>
      </p:sp>
      <p:sp>
        <p:nvSpPr>
          <p:cNvPr id="120" name="Confluence Banner"/>
          <p:cNvSpPr/>
          <p:nvPr/>
        </p:nvSpPr>
        <p:spPr>
          <a:xfrm>
            <a:off x="228600" y="4089400"/>
            <a:ext cx="8686800" cy="60960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Full Instructions on Confluence</a:t>
            </a:r>
          </a:p>
          <a:p>
            <a:pPr marL="0" indent="0" algn="ctr">
              <a:buNone/>
            </a:pPr>
            <a:r>
              <a:rPr lang="en-US" sz="1000" u="sng" dirty="0">
                <a:solidFill>
                  <a:srgbClr val="E0FFE0"/>
                </a:solidFill>
                <a:latin typeface="Calibri" pitchFamily="34" charset="0"/>
              </a:rPr>
              <a:t>https://confluence.pnc.net/display/CAAS/RBAC-Group-Creation-Guide</a:t>
            </a:r>
          </a:p>
        </p:txBody>
      </p:sp>
    </p:spTree>
    <p:extLst>
      <p:ext uri="{BB962C8B-B14F-4D97-AF65-F5344CB8AC3E}">
        <p14:creationId xmlns:p14="http://schemas.microsoft.com/office/powerpoint/2010/main" val="1427967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Impact on Existing Access — Migration Required</a:t>
            </a:r>
          </a:p>
        </p:txBody>
      </p:sp>
      <p:sp>
        <p:nvSpPr>
          <p:cNvPr id="4" name="Shape 2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6B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201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ACTION REQUIRED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RBAC Automation  ·  OCP CaaS Team  ·  IS-20938  ·  March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</a:rPr>
              <a:t>Slide 12 of 13</a:t>
            </a:r>
          </a:p>
        </p:txBody>
      </p:sp>
      <p:sp>
        <p:nvSpPr>
          <p:cNvPr id="60" name="Alert Banner"/>
          <p:cNvSpPr/>
          <p:nvPr/>
        </p:nvSpPr>
        <p:spPr>
          <a:xfrm>
            <a:off x="228600" y="736600"/>
            <a:ext cx="8686800" cy="508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0">
            <a:noFill/>
          </a:ln>
        </p:spPr>
        <p:txBody>
          <a:bodyPr wrap="square" lIns="108000" tIns="36000" rIns="108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⚠  DEADLINE: December 4, 2026 — All manually created access will be removed. Access WILL be lost.</a:t>
            </a:r>
          </a:p>
        </p:txBody>
      </p:sp>
      <p:sp>
        <p:nvSpPr>
          <p:cNvPr id="61" name="Left Header"/>
          <p:cNvSpPr/>
          <p:nvPr/>
        </p:nvSpPr>
        <p:spPr>
          <a:xfrm>
            <a:off x="228600" y="1346200"/>
            <a:ext cx="4267200" cy="304800"/>
          </a:xfrm>
          <a:prstGeom prst="roundRect">
            <a:avLst>
              <a:gd name="adj" fmla="val 12000"/>
            </a:avLst>
          </a:prstGeom>
          <a:solidFill>
            <a:srgbClr val="2E3A59"/>
          </a:solidFill>
          <a:ln w="0">
            <a:noFill/>
          </a:ln>
        </p:spPr>
        <p:txBody>
          <a:bodyPr wrap="square" lIns="72000" tIns="18000" rIns="72000" bIns="1800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What's Changing</a:t>
            </a:r>
          </a:p>
        </p:txBody>
      </p:sp>
      <p:sp>
        <p:nvSpPr>
          <p:cNvPr id="62" name="Left Body"/>
          <p:cNvSpPr/>
          <p:nvPr/>
        </p:nvSpPr>
        <p:spPr>
          <a:xfrm>
            <a:off x="228600" y="1676400"/>
            <a:ext cx="4267200" cy="1397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wrap="square" lIns="72000" tIns="54000" rIns="72000" bIns="36000" anchor="t"/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All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</a:rPr>
              <a:t>manually created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RoleBindings will be removed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Only OIM-driven, operator-managed bindings will remain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Security audit findings require phasing out the old model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The CaaS team has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</a:rPr>
              <a:t>no control or workaround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— this is mandatory</a:t>
            </a:r>
          </a:p>
        </p:txBody>
      </p:sp>
      <p:sp>
        <p:nvSpPr>
          <p:cNvPr id="63" name="Right Header"/>
          <p:cNvSpPr/>
          <p:nvPr/>
        </p:nvSpPr>
        <p:spPr>
          <a:xfrm>
            <a:off x="4648200" y="1346200"/>
            <a:ext cx="4267200" cy="304800"/>
          </a:xfrm>
          <a:prstGeom prst="roundRect">
            <a:avLst>
              <a:gd name="adj" fmla="val 12000"/>
            </a:avLst>
          </a:prstGeom>
          <a:solidFill>
            <a:srgbClr val="2E3A59"/>
          </a:solidFill>
          <a:ln w="0">
            <a:noFill/>
          </a:ln>
        </p:spPr>
        <p:txBody>
          <a:bodyPr wrap="square" lIns="72000" tIns="18000" rIns="72000" bIns="1800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Who Must Act Now</a:t>
            </a:r>
          </a:p>
        </p:txBody>
      </p:sp>
      <p:sp>
        <p:nvSpPr>
          <p:cNvPr id="64" name="Right Body"/>
          <p:cNvSpPr/>
          <p:nvPr/>
        </p:nvSpPr>
        <p:spPr>
          <a:xfrm>
            <a:off x="4648200" y="1676400"/>
            <a:ext cx="4267200" cy="1397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0">
            <a:noFill/>
          </a:ln>
        </p:spPr>
        <p:txBody>
          <a:bodyPr wrap="square" lIns="72000" tIns="54000" rIns="72000" bIns="36000" anchor="t"/>
          <a:lstStyle/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rgbClr val="2E3A59"/>
                </a:solidFill>
                <a:latin typeface="Calibri" pitchFamily="34" charset="0"/>
              </a:rPr>
              <a:t>Mnemonic Owners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— confirm ownership in CMDB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rgbClr val="2E3A59"/>
                </a:solidFill>
                <a:latin typeface="Calibri" pitchFamily="34" charset="0"/>
              </a:rPr>
              <a:t>Product Owners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— ensure teams migrate to OIM groups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rgbClr val="2E3A59"/>
                </a:solidFill>
                <a:latin typeface="Calibri" pitchFamily="34" charset="0"/>
              </a:rPr>
              <a:t>MIS Development Teams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— request access via OIM portal</a:t>
            </a: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rgbClr val="2E3A59"/>
                </a:solidFill>
                <a:latin typeface="Calibri" pitchFamily="34" charset="0"/>
              </a:rPr>
              <a:t>Stakeholders</a:t>
            </a:r>
            <a:r>
              <a:rPr lang="en-US" sz="1000" dirty="0">
                <a:solidFill>
                  <a:srgbClr val="2E3A59"/>
                </a:solidFill>
                <a:latin typeface="Calibri" pitchFamily="34" charset="0"/>
              </a:rPr>
              <a:t> — communicate to downstream teams immediately</a:t>
            </a:r>
          </a:p>
        </p:txBody>
      </p:sp>
      <p:sp>
        <p:nvSpPr>
          <p:cNvPr id="70" name="Phase 1"/>
          <p:cNvSpPr/>
          <p:nvPr/>
        </p:nvSpPr>
        <p:spPr>
          <a:xfrm>
            <a:off x="228600" y="322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9050">
            <a:solidFill>
              <a:srgbClr val="1D9E75"/>
            </a:solidFill>
          </a:ln>
        </p:spPr>
        <p:txBody>
          <a:bodyPr wrap="square" lIns="54000" tIns="36000" rIns="54000" bIns="3600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</a:rPr>
              <a:t>Phase 1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  Now — Q3 2026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E3A59"/>
                </a:solidFill>
                <a:latin typeface="Calibri" pitchFamily="34" charset="0"/>
              </a:rPr>
              <a:t>Communication &amp; onboarding. Teams begin OIM migration.</a:t>
            </a:r>
          </a:p>
        </p:txBody>
      </p:sp>
      <p:sp>
        <p:nvSpPr>
          <p:cNvPr id="71" name="Arrow 1"/>
          <p:cNvSpPr/>
          <p:nvPr/>
        </p:nvSpPr>
        <p:spPr>
          <a:xfrm>
            <a:off x="2984500" y="3581400"/>
            <a:ext cx="101600" cy="203200"/>
          </a:xfrm>
          <a:prstGeom prst="rightArrow">
            <a:avLst/>
          </a:prstGeom>
          <a:solidFill>
            <a:srgbClr val="6B7280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72" name="Phase 2"/>
          <p:cNvSpPr/>
          <p:nvPr/>
        </p:nvSpPr>
        <p:spPr>
          <a:xfrm>
            <a:off x="3098800" y="322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9050">
            <a:solidFill>
              <a:srgbClr val="E67E22"/>
            </a:solidFill>
          </a:ln>
        </p:spPr>
        <p:txBody>
          <a:bodyPr wrap="square" lIns="54000" tIns="36000" rIns="54000" bIns="3600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</a:rPr>
              <a:t>Phase 2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  Q3 2026 — Q4 2026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E3A59"/>
                </a:solidFill>
                <a:latin typeface="Calibri" pitchFamily="34" charset="0"/>
              </a:rPr>
              <a:t>Legacy bindings flagged. Warnings issued to non-migrated teams.</a:t>
            </a:r>
          </a:p>
        </p:txBody>
      </p:sp>
      <p:sp>
        <p:nvSpPr>
          <p:cNvPr id="73" name="Arrow 2"/>
          <p:cNvSpPr/>
          <p:nvPr/>
        </p:nvSpPr>
        <p:spPr>
          <a:xfrm>
            <a:off x="5854700" y="3581400"/>
            <a:ext cx="101600" cy="203200"/>
          </a:xfrm>
          <a:prstGeom prst="rightArrow">
            <a:avLst/>
          </a:prstGeom>
          <a:solidFill>
            <a:srgbClr val="6B7280"/>
          </a:solidFill>
          <a:ln w="0">
            <a:noFill/>
          </a:ln>
        </p:spPr>
        <p:txBody>
          <a:bodyPr lIns="0" tIns="0" rIns="0" bIns="0"/>
          <a:lstStyle/>
          <a:p>
            <a:endParaRPr lang="en-US" sz="100" dirty="0"/>
          </a:p>
        </p:txBody>
      </p:sp>
      <p:sp>
        <p:nvSpPr>
          <p:cNvPr id="74" name="Phase 3"/>
          <p:cNvSpPr/>
          <p:nvPr/>
        </p:nvSpPr>
        <p:spPr>
          <a:xfrm>
            <a:off x="5969000" y="322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txBody>
          <a:bodyPr wrap="square" lIns="54000" tIns="36000" rIns="54000" bIns="3600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</a:rPr>
              <a:t>Phase 3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  Q4 2026 — Dec 4, 2026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E3A59"/>
                </a:solidFill>
                <a:latin typeface="Calibri" pitchFamily="34" charset="0"/>
              </a:rPr>
              <a:t>All manual access removed. No exceptions. No workarounds.</a:t>
            </a:r>
          </a:p>
        </p:txBody>
      </p:sp>
      <p:sp>
        <p:nvSpPr>
          <p:cNvPr id="80" name="Urgency Banner"/>
          <p:cNvSpPr/>
          <p:nvPr/>
        </p:nvSpPr>
        <p:spPr>
          <a:xfrm>
            <a:off x="228600" y="4267200"/>
            <a:ext cx="8686800" cy="330200"/>
          </a:xfrm>
          <a:prstGeom prst="roundRect">
            <a:avLst>
              <a:gd name="adj" fmla="val 10000"/>
            </a:avLst>
          </a:prstGeom>
          <a:solidFill>
            <a:srgbClr val="2E3A59"/>
          </a:solidFill>
          <a:ln w="0"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</a:rPr>
              <a:t>Do not wait — begin OIM migration today. After December 4, 2026, there is no path to restore manually created access.</a:t>
            </a:r>
          </a:p>
        </p:txBody>
      </p:sp>
    </p:spTree>
    <p:extLst>
      <p:ext uri="{BB962C8B-B14F-4D97-AF65-F5344CB8AC3E}">
        <p14:creationId xmlns:p14="http://schemas.microsoft.com/office/powerpoint/2010/main" val="55379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73460D-47F5-8F49-B4A9-53CD59E69C29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14224</TotalTime>
  <Words>1373</Words>
  <Application>Microsoft Macintosh PowerPoint</Application>
  <PresentationFormat>On-screen Show (16:9)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RBAC Automation</dc:title>
  <dc:subject>PptxGenJS Presentation</dc:subject>
  <dc:creator>OCP CaaS Team</dc:creator>
  <cp:lastModifiedBy>Lateef Onifade</cp:lastModifiedBy>
  <cp:revision>21</cp:revision>
  <dcterms:created xsi:type="dcterms:W3CDTF">2026-03-27T20:34:42Z</dcterms:created>
  <dcterms:modified xsi:type="dcterms:W3CDTF">2026-04-08T14:50:55Z</dcterms:modified>
</cp:coreProperties>
</file>