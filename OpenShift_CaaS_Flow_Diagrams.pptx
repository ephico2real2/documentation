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24"/>
  </p:notesMasterIdLst>
  <p:sldIdLst>
    <p:sldId id="316" r:id="rId2"/>
    <p:sldId id="321" r:id="rId3"/>
    <p:sldId id="266" r:id="rId4"/>
    <p:sldId id="259" r:id="rId5"/>
    <p:sldId id="313" r:id="rId6"/>
    <p:sldId id="304" r:id="rId7"/>
    <p:sldId id="328" r:id="rId8"/>
    <p:sldId id="268" r:id="rId9"/>
    <p:sldId id="276" r:id="rId10"/>
    <p:sldId id="320" r:id="rId11"/>
    <p:sldId id="294" r:id="rId12"/>
    <p:sldId id="295" r:id="rId13"/>
    <p:sldId id="319" r:id="rId14"/>
    <p:sldId id="297" r:id="rId15"/>
    <p:sldId id="287" r:id="rId16"/>
    <p:sldId id="288" r:id="rId17"/>
    <p:sldId id="278" r:id="rId18"/>
    <p:sldId id="281" r:id="rId19"/>
    <p:sldId id="311" r:id="rId20"/>
    <p:sldId id="263" r:id="rId21"/>
    <p:sldId id="264" r:id="rId22"/>
    <p:sldId id="323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09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305800" y="4800600"/>
            <a:ext cx="762000" cy="2730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000">
                <a:solidFill>
                  <a:srgbClr val="90CAF9"/>
                </a:solidFill>
                <a:latin typeface="Arial"/>
              </a:defRPr>
            </a:lvl1pPr>
          </a:lstStyle>
          <a:p>
            <a:fld id="{B6F15528-F159-4107-2052-3A15DA8D0E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305800" y="4800600"/>
            <a:ext cx="762000" cy="2730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000">
                <a:solidFill>
                  <a:srgbClr val="90CAF9"/>
                </a:solidFill>
                <a:latin typeface="Arial"/>
              </a:defRPr>
            </a:lvl1pPr>
          </a:lstStyle>
          <a:p>
            <a:fld id="{B6F15528-F159-4107-2052-3A15DA8D0E4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OpenShift Cluster as a Service (CaaS)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Flow Diagrams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619099"/>
            <a:ext cx="3657600" cy="1318661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KCS Container As a Service Team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Plan v1.0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| 2026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Ola Onifade</a:t>
            </a:r>
            <a:endParaRPr lang="en-US" sz="1200" dirty="0"/>
          </a:p>
        </p:txBody>
      </p:sp>
      <p:sp>
        <p:nvSpPr>
          <p:cNvPr id="7" name="SlideNumber">
            <a:extLst>
              <a:ext uri="{FF2B5EF4-FFF2-40B4-BE49-F238E27FC236}">
                <a16:creationId xmlns:a16="http://schemas.microsoft.com/office/drawing/2014/main" id="{4349D749-E589-1F47-B179-A5133EA092D1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6836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CaaS Workflow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Four-layer architecture — external traffic, control plane, platform, workloads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89280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commit to OCP deployment via ArgoCD, Kyverno &amp; ESO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LDAP/OAuth authentication, GSEP namespace provisioning &amp; RBAC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44728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Request &amp; Migration</a:t>
            </a:r>
          </a:p>
        </p:txBody>
      </p:sp>
      <p:sp>
        <p:nvSpPr>
          <p:cNvPr id="22" name="Text 20"/>
          <p:cNvSpPr/>
          <p:nvPr/>
        </p:nvSpPr>
        <p:spPr>
          <a:xfrm>
            <a:off x="128016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flow, TKG migration phases, roles &amp; responsibilities</a:t>
            </a:r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422452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Engineering &amp; Security</a:t>
            </a:r>
          </a:p>
        </p:txBody>
      </p:sp>
      <p:sp>
        <p:nvSpPr>
          <p:cNvPr id="27" name="Text 25"/>
          <p:cNvSpPr/>
          <p:nvPr/>
        </p:nvSpPr>
        <p:spPr>
          <a:xfrm>
            <a:off x="128016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as code, Prisma Cloud, Cilium CNI, DNS strategy, prerequisites</a:t>
            </a:r>
          </a:p>
        </p:txBody>
      </p:sp>
      <p:sp>
        <p:nvSpPr>
          <p:cNvPr id="28" name="SlideNumber">
            <a:extLst>
              <a:ext uri="{FF2B5EF4-FFF2-40B4-BE49-F238E27FC236}">
                <a16:creationId xmlns:a16="http://schemas.microsoft.com/office/drawing/2014/main" id="{00F643E8-DB0F-864B-BB6B-A8CDF4DF8F61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9700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External Traffic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280160" cy="36576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Users / Internal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20240" y="1234440"/>
            <a:ext cx="1280160" cy="3657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2024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F5/BIG-IP Load Balancer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00400" y="1234440"/>
            <a:ext cx="1280160" cy="36576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0040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DNS (api.* / *.apps.*)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OpenShift Cluster Boundary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256032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Control Plane (3 nodes HA)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API Server • etcd • Scheduler • Controller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2148840"/>
            <a:ext cx="256032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Infrastructure Nodes (3)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Router • Registry • Prometheus • Loki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0" y="2148840"/>
            <a:ext cx="2560320" cy="4572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Worker Nodes (3+)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Application Workloads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OpenShift Core: OAuth &amp; RBAC • Internal Registry • Ingress Controller • OLM • SCC • Web Console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Platform Services (KCS OCP CAAS Managed)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51560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ArgoCD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55648" y="3566160"/>
            <a:ext cx="1051560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55648" y="3566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Kyverno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71216" y="3566160"/>
            <a:ext cx="1051560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71216" y="3566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Cert-Mgr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86784" y="3566160"/>
            <a:ext cx="1051560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86784" y="3566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ESO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02352" y="3566160"/>
            <a:ext cx="1051560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02352" y="3566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Prisma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3566160"/>
            <a:ext cx="1051560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3566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33488" y="3566160"/>
            <a:ext cx="1051560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33488" y="3566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Logging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FCE4EC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— Storage &amp; External Integrations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480560"/>
            <a:ext cx="1234440" cy="3657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" y="4480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vSphere CSI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65960" y="4480560"/>
            <a:ext cx="1234440" cy="3657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965960" y="4480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S3-compatible Object Store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4480560"/>
            <a:ext cx="1234440" cy="3657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91840" y="4480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LDAP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4480560"/>
            <a:ext cx="1234440" cy="3657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17720" y="4480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Vault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43600" y="4480560"/>
            <a:ext cx="1234440" cy="3657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43600" y="4480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Splunk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69480" y="4480560"/>
            <a:ext cx="1234440" cy="3657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4480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ACM Hub</a:t>
            </a:r>
            <a:endParaRPr lang="en-US" sz="900" dirty="0"/>
          </a:p>
        </p:txBody>
      </p:sp>
      <p:sp>
        <p:nvSpPr>
          <p:cNvPr id="51" name="Shape LB BG"/>
          <p:cNvSpPr/>
          <p:nvPr/>
        </p:nvSpPr>
        <p:spPr>
          <a:xfrm>
            <a:off x="7180560" y="1234440"/>
            <a:ext cx="1280160" cy="36576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LB"/>
          <p:cNvSpPr/>
          <p:nvPr/>
        </p:nvSpPr>
        <p:spPr>
          <a:xfrm>
            <a:off x="7180560" y="12344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Custom Load Balancer for WSSO</a:t>
            </a:r>
            <a:endParaRPr lang="en-US" sz="900" dirty="0"/>
          </a:p>
        </p:txBody>
      </p:sp>
      <p:sp>
        <p:nvSpPr>
          <p:cNvPr id="53" name="SlideNumber">
            <a:extLst>
              <a:ext uri="{FF2B5EF4-FFF2-40B4-BE49-F238E27FC236}">
                <a16:creationId xmlns:a16="http://schemas.microsoft.com/office/drawing/2014/main" id="{512652CB-BCAC-6548-90BB-2B62FD2DD776}"/>
              </a:ext>
            </a:extLst>
          </p:cNvPr>
          <p:cNvSpPr txBox="1"/>
          <p:nvPr/>
        </p:nvSpPr>
        <p:spPr>
          <a:xfrm>
            <a:off x="8686800" y="484632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318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Deployment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694944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88720" cy="640080"/>
          </a:xfrm>
          <a:prstGeom prst="rect">
            <a:avLst/>
          </a:prstGeom>
          <a:solidFill>
            <a:srgbClr val="1F4E79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Commits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1143000"/>
            <a:ext cx="1188720" cy="640080"/>
          </a:xfrm>
          <a:prstGeom prst="rect">
            <a:avLst/>
          </a:prstGeom>
          <a:solidFill>
            <a:srgbClr val="6E549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Git Repo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Helm/Kustomize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1188720" cy="640080"/>
          </a:xfrm>
          <a:prstGeom prst="rect">
            <a:avLst/>
          </a:prstGeom>
          <a:solidFill>
            <a:srgbClr val="0277BD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CI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Team-owned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188720" cy="640080"/>
          </a:xfrm>
          <a:prstGeom prst="rect">
            <a:avLst/>
          </a:prstGeom>
          <a:solidFill>
            <a:srgbClr val="00695C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Registry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SRES/GitLab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143000"/>
            <a:ext cx="1188720" cy="640080"/>
          </a:xfrm>
          <a:prstGeom prst="rect">
            <a:avLst/>
          </a:prstGeom>
          <a:solidFill>
            <a:srgbClr val="EF6C0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ArgoCD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Detects Drift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143000"/>
            <a:ext cx="1188720" cy="640080"/>
          </a:xfrm>
          <a:prstGeom prst="rect">
            <a:avLst/>
          </a:prstGeom>
          <a:solidFill>
            <a:srgbClr val="2E75B6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143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OpenShift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Cluster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2103120"/>
            <a:ext cx="1188720" cy="457200"/>
          </a:xfrm>
          <a:prstGeom prst="rect">
            <a:avLst/>
          </a:prstGeom>
          <a:solidFill>
            <a:srgbClr val="2E7D3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Kyverno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Validates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2103120"/>
            <a:ext cx="1188720" cy="457200"/>
          </a:xfrm>
          <a:prstGeom prst="rect">
            <a:avLst/>
          </a:prstGeom>
          <a:solidFill>
            <a:srgbClr val="6A1B9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ESO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Secrets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0" cy="274320"/>
          </a:xfrm>
          <a:prstGeom prst="line">
            <a:avLst/>
          </a:prstGeom>
          <a:noFill/>
          <a:ln w="25400">
            <a:solidFill>
              <a:srgbClr val="2E7D3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09560" y="1783080"/>
            <a:ext cx="0" cy="274320"/>
          </a:xfrm>
          <a:prstGeom prst="line">
            <a:avLst/>
          </a:prstGeom>
          <a:noFill/>
          <a:ln w="25400">
            <a:solidFill>
              <a:srgbClr val="6A1B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21031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Flow Steps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Developer commits code/config to Git repository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CI pipeline builds container image → pushes to approved registry (SRES/GitLab)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114800"/>
            <a:ext cx="320040" cy="32004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ArgoCD detects drift from Git state → applies changes to cluster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156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Kyverno validates resources at admission → ESO injects secrets from Vault</a:t>
            </a:r>
            <a:endParaRPr lang="en-US" sz="1100" dirty="0"/>
          </a:p>
        </p:txBody>
      </p:sp>
      <p:sp>
        <p:nvSpPr>
          <p:cNvPr id="36" name="SlideNumber">
            <a:extLst>
              <a:ext uri="{FF2B5EF4-FFF2-40B4-BE49-F238E27FC236}">
                <a16:creationId xmlns:a16="http://schemas.microsoft.com/office/drawing/2014/main" id="{EEC305E4-AC51-BD42-AA95-1B7F39DE2153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 Management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8872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Login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1325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74520" y="1234440"/>
            <a:ext cx="1188720" cy="5029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452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OpenShift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OAuth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325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11887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LDAP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Authenticate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43400" y="1325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6280" y="1234440"/>
            <a:ext cx="1188720" cy="50292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GroupSync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Operator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1325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2160" y="1234440"/>
            <a:ext cx="1188720" cy="50292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OCP Groups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1325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78040" y="1234440"/>
            <a:ext cx="1188720" cy="502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04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Granted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8229600" cy="26974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Provisioning &amp; Access Management (via GSEP)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651760"/>
            <a:ext cx="141732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App 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Request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2651760"/>
            <a:ext cx="1417320" cy="502920"/>
          </a:xfrm>
          <a:prstGeom prst="rect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4884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GSEP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ServiceNow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2651760"/>
            <a:ext cx="1417320" cy="50292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4904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Metadata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ESATS/BU/Prod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2651760"/>
            <a:ext cx="1417320" cy="5029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924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InfoSec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Approval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2651760"/>
            <a:ext cx="1417320" cy="502920"/>
          </a:xfrm>
          <a:prstGeom prst="rect">
            <a:avLst/>
          </a:prstGeom>
          <a:solidFill>
            <a:srgbClr val="D843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4944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Mgmt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Approval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75B6"/>
                </a:solidFill>
              </a:rPr>
              <a:t>↓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48640" y="3611880"/>
            <a:ext cx="14173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KCS OCP CAAS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Create 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48840" y="3611880"/>
            <a:ext cx="1417320" cy="50292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14884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Apply Labels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GSEP Metadata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49040" y="3611880"/>
            <a:ext cx="1417320" cy="50292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74904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Create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RoleBindings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49240" y="3611880"/>
            <a:ext cx="1417320" cy="502920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4924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LDAP → Role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Mapping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49440" y="3611880"/>
            <a:ext cx="1417320" cy="502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4944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User Access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Granted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</a:rPr>
              <a:t>Future Enhancement: </a:t>
            </a:r>
            <a:r>
              <a:rPr lang="en-US" sz="1000" dirty="0">
                <a:solidFill>
                  <a:srgbClr val="F57F17"/>
                </a:solidFill>
              </a:rPr>
              <a:t>PAC (Policy as Code) will automate RoleBinding creation based on namespace labels from GSEP driven by Namespace Configuration or Kyverno</a:t>
            </a:r>
            <a:endParaRPr lang="en-US" sz="1000" dirty="0"/>
          </a:p>
        </p:txBody>
      </p:sp>
      <p:sp>
        <p:nvSpPr>
          <p:cNvPr id="47" name="SlideNumber">
            <a:extLst>
              <a:ext uri="{FF2B5EF4-FFF2-40B4-BE49-F238E27FC236}">
                <a16:creationId xmlns:a16="http://schemas.microsoft.com/office/drawing/2014/main" id="{394D28F0-F57C-D44C-B748-4A273EFADA0D}"/>
              </a:ext>
            </a:extLst>
          </p:cNvPr>
          <p:cNvSpPr txBox="1"/>
          <p:nvPr/>
        </p:nvSpPr>
        <p:spPr>
          <a:xfrm>
            <a:off x="8686800" y="486918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394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Request &amp; Onboarding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508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GSEP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Request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14300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Approval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143000"/>
            <a:ext cx="457200" cy="45720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Validation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11430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Provision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14300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RBAC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Setup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114300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Handoff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11430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Hypercare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Lead Times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2926080"/>
            <a:ext cx="1828800" cy="822960"/>
          </a:xfrm>
          <a:prstGeom prst="rect">
            <a:avLst/>
          </a:prstGeom>
          <a:solidFill>
            <a:srgbClr val="1F4E79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Namespace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 business day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</a:rPr>
              <a:t>(subject to ESATS ID &amp; GSEP approval)</a:t>
            </a:r>
          </a:p>
        </p:txBody>
      </p:sp>
      <p:sp>
        <p:nvSpPr>
          <p:cNvPr id="29" name="Shape 27"/>
          <p:cNvSpPr/>
          <p:nvPr/>
        </p:nvSpPr>
        <p:spPr>
          <a:xfrm>
            <a:off x="2560320" y="2926080"/>
            <a:ext cx="1828800" cy="82296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60320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Dedicated Cluster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5-10 business days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926080"/>
            <a:ext cx="1828800" cy="822960"/>
          </a:xfrm>
          <a:prstGeom prst="rect">
            <a:avLst/>
          </a:prstGeom>
          <a:solidFill>
            <a:srgbClr val="00695C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Worker Nodes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2-5 business days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2926080"/>
            <a:ext cx="1828800" cy="822960"/>
          </a:xfrm>
          <a:prstGeom prst="rect">
            <a:avLst/>
          </a:prstGeom>
          <a:solidFill>
            <a:srgbClr val="6A1B9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0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 Tier Upgrade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(shared to dedicated)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10-15 business days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requests flow through GSEP (ServiceNow) with required metadata: ESATS, BusinessUnit, Product Division, Cost Center</a:t>
            </a:r>
            <a:endParaRPr lang="en-US" sz="1000" dirty="0"/>
          </a:p>
        </p:txBody>
      </p:sp>
      <p:sp>
        <p:nvSpPr>
          <p:cNvPr id="36" name="SlideNumber">
            <a:extLst>
              <a:ext uri="{FF2B5EF4-FFF2-40B4-BE49-F238E27FC236}">
                <a16:creationId xmlns:a16="http://schemas.microsoft.com/office/drawing/2014/main" id="{ECFDCDEE-F50B-354A-9D1B-F4F3A35F6C04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6650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TKG to OpenShift Migration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360C"/>
                </a:solidFill>
              </a:rPr>
              <a:t>No-Cliff-Edge Approach: Parallel environments maintained until production sign-off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97280" cy="64008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Compatibility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1417320"/>
            <a:ext cx="1097280" cy="640080"/>
          </a:xfrm>
          <a:prstGeom prst="rect">
            <a:avLst/>
          </a:prstGeom>
          <a:solidFill>
            <a:srgbClr val="C6282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Provision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OCP Env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1417320"/>
            <a:ext cx="1097280" cy="640080"/>
          </a:xfrm>
          <a:prstGeom prst="rect">
            <a:avLst/>
          </a:prstGeom>
          <a:solidFill>
            <a:srgbClr val="00796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1417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Dependency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Mapping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8620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1417320"/>
            <a:ext cx="1097280" cy="640080"/>
          </a:xfrm>
          <a:prstGeom prst="rect">
            <a:avLst/>
          </a:prstGeom>
          <a:solidFill>
            <a:srgbClr val="6A1B9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0" y="1417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Parallel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Deploy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492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1417320"/>
            <a:ext cx="1097280" cy="640080"/>
          </a:xfrm>
          <a:prstGeom prst="rect">
            <a:avLst/>
          </a:prstGeom>
          <a:solidFill>
            <a:srgbClr val="E6510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1417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Testing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417320"/>
            <a:ext cx="1097280" cy="640080"/>
          </a:xfrm>
          <a:prstGeom prst="rect">
            <a:avLst/>
          </a:prstGeom>
          <a:solidFill>
            <a:srgbClr val="2E7D3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1417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Traffic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Cutover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523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89520" y="1417320"/>
            <a:ext cx="1097280" cy="640080"/>
          </a:xfrm>
          <a:prstGeom prst="rect">
            <a:avLst/>
          </a:prstGeom>
          <a:solidFill>
            <a:srgbClr val="AD1457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1417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TKG Decom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30-day post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286000"/>
            <a:ext cx="8229600" cy="23774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Migration Considerations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2834640"/>
            <a:ext cx="1828800" cy="1645920"/>
          </a:xfrm>
          <a:prstGeom prst="rect">
            <a:avLst/>
          </a:prstGeom>
          <a:solidFill>
            <a:srgbClr val="C6282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292608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SCC vs PSP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OpenShift SCCs stricter than TKG PSPs. Audit runAsRoot, runAsUser settings.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0" y="2834640"/>
            <a:ext cx="1828800" cy="164592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51760" y="292608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Storage Classes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Names differ between TKG and OpenShift. Mapping exercise required.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834640"/>
            <a:ext cx="1828800" cy="1645920"/>
          </a:xfrm>
          <a:prstGeom prst="rect">
            <a:avLst/>
          </a:prstGeom>
          <a:solidFill>
            <a:srgbClr val="6A1B9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292608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Ingress Annotations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NGINX → HAProxy Routes. Some features differ (e.g., rewrite-target).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2834640"/>
            <a:ext cx="1828800" cy="1645920"/>
          </a:xfrm>
          <a:prstGeom prst="rect">
            <a:avLst/>
          </a:prstGeom>
          <a:solidFill>
            <a:srgbClr val="00796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75120" y="292608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NetworkPolicy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Default deny-all in OpenShift. Explicit ingress/egress rules required.</a:t>
            </a:r>
            <a:endParaRPr lang="en-US" sz="1200" dirty="0"/>
          </a:p>
        </p:txBody>
      </p:sp>
      <p:sp>
        <p:nvSpPr>
          <p:cNvPr id="35" name="SlideNumber">
            <a:extLst>
              <a:ext uri="{FF2B5EF4-FFF2-40B4-BE49-F238E27FC236}">
                <a16:creationId xmlns:a16="http://schemas.microsoft.com/office/drawing/2014/main" id="{D80B8256-BFFA-4546-81DE-F3A5B944D76B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546E7A"/>
                </a:solidFill>
                <a:latin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2099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79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</a:rPr>
              <a:t>TKG Migration: Roles &amp; Responsibilities</a:t>
            </a:r>
          </a:p>
        </p:txBody>
      </p:sp>
      <p:sp>
        <p:nvSpPr>
          <p:cNvPr id="101" name="Banner"/>
          <p:cNvSpPr/>
          <p:nvPr/>
        </p:nvSpPr>
        <p:spPr>
          <a:xfrm>
            <a:off x="457200" y="825500"/>
            <a:ext cx="8229600" cy="406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KCS OCP Team focus: Cluster lifecycle management — not application workloads</a:t>
            </a:r>
          </a:p>
        </p:txBody>
      </p:sp>
      <p:sp>
        <p:nvSpPr>
          <p:cNvPr id="110" name="TKG Header"/>
          <p:cNvSpPr/>
          <p:nvPr/>
        </p:nvSpPr>
        <p:spPr>
          <a:xfrm>
            <a:off x="457200" y="1371600"/>
            <a:ext cx="2514600" cy="5080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Current TKG Team</a:t>
            </a:r>
          </a:p>
        </p:txBody>
      </p:sp>
      <p:sp>
        <p:nvSpPr>
          <p:cNvPr id="111" name="App Header"/>
          <p:cNvSpPr/>
          <p:nvPr/>
        </p:nvSpPr>
        <p:spPr>
          <a:xfrm>
            <a:off x="3124200" y="1371600"/>
            <a:ext cx="2514600" cy="508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App Owner</a:t>
            </a:r>
          </a:p>
        </p:txBody>
      </p:sp>
      <p:sp>
        <p:nvSpPr>
          <p:cNvPr id="112" name="KCS Header"/>
          <p:cNvSpPr/>
          <p:nvPr/>
        </p:nvSpPr>
        <p:spPr>
          <a:xfrm>
            <a:off x="5791200" y="1371600"/>
            <a:ext cx="2514600" cy="508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KCS OCP Team</a:t>
            </a:r>
          </a:p>
        </p:txBody>
      </p:sp>
      <p:sp>
        <p:nvSpPr>
          <p:cNvPr id="120" name="TKG Body"/>
          <p:cNvSpPr/>
          <p:nvPr/>
        </p:nvSpPr>
        <p:spPr>
          <a:xfrm>
            <a:off x="457200" y="1930400"/>
            <a:ext cx="2514600" cy="2921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Assess current TKG workloads for OCP compatibility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Map dependencies &amp; storage classes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Coordinate migration timeline with app teams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Support parallel-run validation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Decommission TKG clusters post-cutover (30-day grace)</a:t>
            </a:r>
          </a:p>
        </p:txBody>
      </p:sp>
      <p:sp>
        <p:nvSpPr>
          <p:cNvPr id="121" name="App Body"/>
          <p:cNvSpPr/>
          <p:nvPr/>
        </p:nvSpPr>
        <p:spPr>
          <a:xfrm>
            <a:off x="3124200" y="1930400"/>
            <a:ext cx="2514600" cy="292100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Own application code &amp; manifest changes (SCC, routes, storage)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Update CI/CD pipelines for OCP deployment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Validate app functionality in parallel environment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Sign off on production readiness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Maintain container images &amp; runtime configs</a:t>
            </a:r>
          </a:p>
        </p:txBody>
      </p:sp>
      <p:sp>
        <p:nvSpPr>
          <p:cNvPr id="122" name="KCS Body"/>
          <p:cNvSpPr/>
          <p:nvPr/>
        </p:nvSpPr>
        <p:spPr>
          <a:xfrm>
            <a:off x="5791200" y="1930400"/>
            <a:ext cx="2514600" cy="2921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Provision &amp; configure OCP clusters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Manage cluster lifecycle (upgrades, patches, scaling)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Maintain Day-2 operations (monitoring, alerting, etcd backups)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Enforce security policies &amp; network controls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Does NOT own application workloads or deployments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07DE6CE8-FC17-F848-9E31-595C7BAEC839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6811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/>
          <p:nvPr/>
        </p:nvSpPr>
        <p:spPr>
          <a:xfrm>
            <a:off x="457200" y="279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</a:rPr>
              <a:t>KCS OCP Team: Cluster Lifecycle Management</a:t>
            </a:r>
          </a:p>
        </p:txBody>
      </p:sp>
      <p:sp>
        <p:nvSpPr>
          <p:cNvPr id="201" name="Banner"/>
          <p:cNvSpPr/>
          <p:nvPr/>
        </p:nvSpPr>
        <p:spPr>
          <a:xfrm>
            <a:off x="457200" y="825500"/>
            <a:ext cx="8229600" cy="406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We own the platform — you own the applications</a:t>
            </a:r>
          </a:p>
        </p:txBody>
      </p:sp>
      <p:sp>
        <p:nvSpPr>
          <p:cNvPr id="210" name="Card 0"/>
          <p:cNvSpPr/>
          <p:nvPr/>
        </p:nvSpPr>
        <p:spPr>
          <a:xfrm>
            <a:off x="457200" y="1422400"/>
            <a:ext cx="2514600" cy="1651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Cluster Provisioning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Automated IaC-based cluster deployment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Network, storage &amp; identity integration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Environment standardization (dev/staging/prod)</a:t>
            </a:r>
          </a:p>
        </p:txBody>
      </p:sp>
      <p:sp>
        <p:nvSpPr>
          <p:cNvPr id="211" name="Card 1"/>
          <p:cNvSpPr/>
          <p:nvPr/>
        </p:nvSpPr>
        <p:spPr>
          <a:xfrm>
            <a:off x="3124200" y="1422400"/>
            <a:ext cx="2514600" cy="1651000"/>
          </a:xfrm>
          <a:prstGeom prst="roundRect">
            <a:avLst>
              <a:gd name="adj" fmla="val 8000"/>
            </a:avLst>
          </a:prstGeom>
          <a:solidFill>
            <a:srgbClr val="0277BD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Upgrades &amp; Patching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OpenShift version upgrades (minor/major)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Security patch rollouts with change control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Rolling updates — zero-downtime approach</a:t>
            </a:r>
          </a:p>
        </p:txBody>
      </p:sp>
      <p:sp>
        <p:nvSpPr>
          <p:cNvPr id="212" name="Card 2"/>
          <p:cNvSpPr/>
          <p:nvPr/>
        </p:nvSpPr>
        <p:spPr>
          <a:xfrm>
            <a:off x="5791200" y="1422400"/>
            <a:ext cx="2514600" cy="1651000"/>
          </a:xfrm>
          <a:prstGeom prst="roundRect">
            <a:avLst>
              <a:gd name="adj" fmla="val 8000"/>
            </a:avLst>
          </a:prstGeom>
          <a:solidFill>
            <a:srgbClr val="00838F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Scaling &amp; Capacity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Node auto-scaling based on demand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Resource quota management per namespace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Capacity planning &amp; rightsizing</a:t>
            </a:r>
          </a:p>
        </p:txBody>
      </p:sp>
      <p:sp>
        <p:nvSpPr>
          <p:cNvPr id="213" name="Card 3"/>
          <p:cNvSpPr/>
          <p:nvPr/>
        </p:nvSpPr>
        <p:spPr>
          <a:xfrm>
            <a:off x="457200" y="32258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00695C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Monitoring &amp; Alerting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Cluster health dashboards (Prometheus/Grafana)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etcd, API server, node-level alerts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SLA tracking &amp; incident response</a:t>
            </a:r>
          </a:p>
        </p:txBody>
      </p:sp>
      <p:sp>
        <p:nvSpPr>
          <p:cNvPr id="214" name="Card 4"/>
          <p:cNvSpPr/>
          <p:nvPr/>
        </p:nvSpPr>
        <p:spPr>
          <a:xfrm>
            <a:off x="3124200" y="32258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Security &amp; Compliance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SCC enforcement &amp; policy management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Network policy baseline (default deny-all)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Certificate rotation &amp; secrets management</a:t>
            </a:r>
          </a:p>
        </p:txBody>
      </p:sp>
      <p:sp>
        <p:nvSpPr>
          <p:cNvPr id="215" name="Card 5"/>
          <p:cNvSpPr/>
          <p:nvPr/>
        </p:nvSpPr>
        <p:spPr>
          <a:xfrm>
            <a:off x="5791200" y="32258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558B2F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Backup &amp; Recovery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Automated etcd snapshots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Cluster disaster recovery procedures</a:t>
            </a:r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Documented RTO/RPO targets</a:t>
            </a:r>
          </a:p>
        </p:txBody>
      </p:sp>
      <p:sp>
        <p:nvSpPr>
          <p:cNvPr id="220" name="Note"/>
          <p:cNvSpPr/>
          <p:nvPr/>
        </p:nvSpPr>
        <p:spPr>
          <a:xfrm>
            <a:off x="457200" y="4826000"/>
            <a:ext cx="8229600" cy="317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i="1" dirty="0">
                <a:solidFill>
                  <a:srgbClr val="90CAF9"/>
                </a:solidFill>
                <a:latin typeface="Arial"/>
              </a:rPr>
              <a:t>Application deployment, runtime configuration, and workload management remain the responsibility of the App Owner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D827999C-0112-5F4F-8D4B-97135F8C4CFB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7334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Line"/>
          <p:cNvSpPr/>
          <p:nvPr/>
        </p:nvSpPr>
        <p:spPr>
          <a:xfrm>
            <a:off x="3302000" y="1460500"/>
            <a:ext cx="2540000" cy="50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91440" tIns="45720" rIns="91440" bIns="45720" anchor="ctr"/>
          <a:lstStyle/>
          <a:p>
            <a:endParaRPr lang="en-US"/>
          </a:p>
        </p:txBody>
      </p:sp>
      <p:sp>
        <p:nvSpPr>
          <p:cNvPr id="101" name="Title"/>
          <p:cNvSpPr/>
          <p:nvPr/>
        </p:nvSpPr>
        <p:spPr>
          <a:xfrm>
            <a:off x="914400" y="16510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</a:rPr>
              <a:t>Platform Engineering &amp; Security</a:t>
            </a:r>
          </a:p>
        </p:txBody>
      </p:sp>
      <p:sp>
        <p:nvSpPr>
          <p:cNvPr id="102" name="Subtitle"/>
          <p:cNvSpPr/>
          <p:nvPr/>
        </p:nvSpPr>
        <p:spPr>
          <a:xfrm>
            <a:off x="914400" y="2476500"/>
            <a:ext cx="7315200" cy="381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dirty="0">
                <a:solidFill>
                  <a:srgbClr val="00A896"/>
                </a:solidFill>
                <a:latin typeface="Arial"/>
              </a:rPr>
              <a:t>Enhancements, tooling &amp; architectural decisions</a:t>
            </a:r>
          </a:p>
        </p:txBody>
      </p:sp>
      <p:sp>
        <p:nvSpPr>
          <p:cNvPr id="103" name="BotLine"/>
          <p:cNvSpPr/>
          <p:nvPr/>
        </p:nvSpPr>
        <p:spPr>
          <a:xfrm>
            <a:off x="3302000" y="3048000"/>
            <a:ext cx="2540000" cy="50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91440" tIns="45720" rIns="91440" bIns="45720" anchor="ctr"/>
          <a:lstStyle/>
          <a:p>
            <a:endParaRPr lang="en-US"/>
          </a:p>
        </p:txBody>
      </p:sp>
      <p:sp>
        <p:nvSpPr>
          <p:cNvPr id="110" name="Topic 0"/>
          <p:cNvSpPr/>
          <p:nvPr/>
        </p:nvSpPr>
        <p:spPr>
          <a:xfrm>
            <a:off x="1371600" y="3429000"/>
            <a:ext cx="3556000" cy="457200"/>
          </a:xfrm>
          <a:prstGeom prst="roundRect">
            <a:avLst>
              <a:gd name="adj" fmla="val 8000"/>
            </a:avLst>
          </a:prstGeom>
          <a:solidFill>
            <a:srgbClr val="163D64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Arial"/>
              </a:rPr>
              <a:t>▶  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Policy as Code  </a:t>
            </a:r>
            <a:r>
              <a:rPr lang="en-US" sz="900" dirty="0">
                <a:solidFill>
                  <a:srgbClr val="90CAF9"/>
                </a:solidFill>
                <a:latin typeface="Arial"/>
              </a:rPr>
              <a:t>Kyverno, Namespace Config Operator</a:t>
            </a:r>
          </a:p>
        </p:txBody>
      </p:sp>
      <p:sp>
        <p:nvSpPr>
          <p:cNvPr id="111" name="Topic 1"/>
          <p:cNvSpPr/>
          <p:nvPr/>
        </p:nvSpPr>
        <p:spPr>
          <a:xfrm>
            <a:off x="5181600" y="3429000"/>
            <a:ext cx="3556000" cy="457200"/>
          </a:xfrm>
          <a:prstGeom prst="roundRect">
            <a:avLst>
              <a:gd name="adj" fmla="val 8000"/>
            </a:avLst>
          </a:prstGeom>
          <a:solidFill>
            <a:srgbClr val="163D64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Arial"/>
              </a:rPr>
              <a:t>▶  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Platform Add-ons  </a:t>
            </a:r>
            <a:r>
              <a:rPr lang="en-US" sz="900" dirty="0">
                <a:solidFill>
                  <a:srgbClr val="90CAF9"/>
                </a:solidFill>
                <a:latin typeface="Arial"/>
              </a:rPr>
              <a:t>External Secrets Operator, Cert Manager</a:t>
            </a:r>
          </a:p>
        </p:txBody>
      </p:sp>
      <p:sp>
        <p:nvSpPr>
          <p:cNvPr id="112" name="Topic 2"/>
          <p:cNvSpPr/>
          <p:nvPr/>
        </p:nvSpPr>
        <p:spPr>
          <a:xfrm>
            <a:off x="1371600" y="4038600"/>
            <a:ext cx="3556000" cy="457200"/>
          </a:xfrm>
          <a:prstGeom prst="roundRect">
            <a:avLst>
              <a:gd name="adj" fmla="val 8000"/>
            </a:avLst>
          </a:prstGeom>
          <a:solidFill>
            <a:srgbClr val="163D64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Arial"/>
              </a:rPr>
              <a:t>▶  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Network Security  </a:t>
            </a:r>
            <a:r>
              <a:rPr lang="en-US" sz="900" dirty="0">
                <a:solidFill>
                  <a:srgbClr val="90CAF9"/>
                </a:solidFill>
                <a:latin typeface="Arial"/>
              </a:rPr>
              <a:t>Prisma Cloud, EgressFirewall CRD, Cilium CNI</a:t>
            </a:r>
          </a:p>
        </p:txBody>
      </p:sp>
      <p:sp>
        <p:nvSpPr>
          <p:cNvPr id="113" name="Topic 3"/>
          <p:cNvSpPr/>
          <p:nvPr/>
        </p:nvSpPr>
        <p:spPr>
          <a:xfrm>
            <a:off x="5181600" y="4038600"/>
            <a:ext cx="3556000" cy="457200"/>
          </a:xfrm>
          <a:prstGeom prst="roundRect">
            <a:avLst>
              <a:gd name="adj" fmla="val 8000"/>
            </a:avLst>
          </a:prstGeom>
          <a:solidFill>
            <a:srgbClr val="163D64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Arial"/>
              </a:rPr>
              <a:t>▶  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Infrastructure  </a:t>
            </a:r>
            <a:r>
              <a:rPr lang="en-US" sz="900" dirty="0">
                <a:solidFill>
                  <a:srgbClr val="90CAF9"/>
                </a:solidFill>
                <a:latin typeface="Arial"/>
              </a:rPr>
              <a:t>2-Headed DNS, Prerequisites, Next Steps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C59DEF9A-FA0C-5644-919B-3B4627BA4CF6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443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Policy as Code</a:t>
            </a:r>
          </a:p>
        </p:txBody>
      </p:sp>
      <p:sp>
        <p:nvSpPr>
          <p:cNvPr id="1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/>
              </a:rPr>
              <a:t>Enforce cluster standards automatically — shift governance left into declarative policies</a:t>
            </a:r>
          </a:p>
        </p:txBody>
      </p:sp>
      <p:sp>
        <p:nvSpPr>
          <p:cNvPr id="110" name="Kyverno Header"/>
          <p:cNvSpPr/>
          <p:nvPr/>
        </p:nvSpPr>
        <p:spPr>
          <a:xfrm>
            <a:off x="4572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Kyverno</a:t>
            </a:r>
          </a:p>
        </p:txBody>
      </p:sp>
      <p:sp>
        <p:nvSpPr>
          <p:cNvPr id="111" name="Kyverno Body"/>
          <p:cNvSpPr/>
          <p:nvPr/>
        </p:nvSpPr>
        <p:spPr>
          <a:xfrm>
            <a:off x="457200" y="1651000"/>
            <a:ext cx="4038600" cy="2730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/>
              </a:rPr>
              <a:t>Kubernetes-native policy engine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Validate, mutate &amp; generate resources via admission control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Enforce labels, resource limits, image registries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Block non-compliant workloads before deployment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Policy reports for audit &amp; compliance visibility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GitOps-managed — policies versioned in Git</a:t>
            </a:r>
          </a:p>
        </p:txBody>
      </p:sp>
      <p:sp>
        <p:nvSpPr>
          <p:cNvPr id="120" name="NCO Header"/>
          <p:cNvSpPr/>
          <p:nvPr/>
        </p:nvSpPr>
        <p:spPr>
          <a:xfrm>
            <a:off x="46990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Namespace Configuration Operator</a:t>
            </a:r>
          </a:p>
        </p:txBody>
      </p:sp>
      <p:sp>
        <p:nvSpPr>
          <p:cNvPr id="121" name="NCO Body"/>
          <p:cNvSpPr/>
          <p:nvPr/>
        </p:nvSpPr>
        <p:spPr>
          <a:xfrm>
            <a:off x="4699000" y="1651000"/>
            <a:ext cx="4038600" cy="2730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Arial"/>
              </a:rPr>
              <a:t>Automated namespace provisioning &amp; governance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Auto-inject RBAC, NetworkPolicies, LimitRanges per namespace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Standardize namespace setup across all clusters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Enforce quotas &amp; default security baselines on creation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Reduce manual onboarding effort for app teams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Label-driven config — namespaces self-classify via annotations</a:t>
            </a:r>
          </a:p>
        </p:txBody>
      </p:sp>
      <p:sp>
        <p:nvSpPr>
          <p:cNvPr id="130" name="Note"/>
          <p:cNvSpPr/>
          <p:nvPr/>
        </p:nvSpPr>
        <p:spPr>
          <a:xfrm>
            <a:off x="457200" y="4546600"/>
            <a:ext cx="8229600" cy="38100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</a:rPr>
              <a:t>Good to have — recommended for Day-2 maturity to enforce consistency at scale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3684A509-8BDA-9A42-82F3-5FB803CA8AF6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0604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Platform Add-ons: Secrets &amp; Certificates</a:t>
            </a:r>
          </a:p>
        </p:txBody>
      </p:sp>
      <p:sp>
        <p:nvSpPr>
          <p:cNvPr id="1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Arial"/>
              </a:rPr>
              <a:t>New capabilities — good to have for mature secret management &amp; automated TLS</a:t>
            </a:r>
          </a:p>
        </p:txBody>
      </p:sp>
      <p:sp>
        <p:nvSpPr>
          <p:cNvPr id="110" name="ESO Header"/>
          <p:cNvSpPr/>
          <p:nvPr/>
        </p:nvSpPr>
        <p:spPr>
          <a:xfrm>
            <a:off x="4572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External Secrets Operator (ESO)</a:t>
            </a:r>
          </a:p>
        </p:txBody>
      </p:sp>
      <p:sp>
        <p:nvSpPr>
          <p:cNvPr id="111" name="ESO Body"/>
          <p:cNvSpPr/>
          <p:nvPr/>
        </p:nvSpPr>
        <p:spPr>
          <a:xfrm>
            <a:off x="457200" y="1651000"/>
            <a:ext cx="4038600" cy="27305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Arial"/>
              </a:rPr>
              <a:t>Sync secrets from external vaults into K8s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Integrate with CyberArk, HashiCorp Vault, AWS Secrets Manager, Gitlab Secret/ Masked Variables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Auto-sync secrets into OCP namespaces as K8s Secrets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Eliminates manual secret creation &amp; rotation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Declarative ExternalSecret CRDs — GitOps-friendly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Reduces secret sprawl &amp; improves audit posture</a:t>
            </a:r>
          </a:p>
        </p:txBody>
      </p:sp>
      <p:sp>
        <p:nvSpPr>
          <p:cNvPr id="120" name="Cert Header"/>
          <p:cNvSpPr/>
          <p:nvPr/>
        </p:nvSpPr>
        <p:spPr>
          <a:xfrm>
            <a:off x="46990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Cert Manager</a:t>
            </a:r>
          </a:p>
        </p:txBody>
      </p:sp>
      <p:sp>
        <p:nvSpPr>
          <p:cNvPr id="121" name="Cert Body"/>
          <p:cNvSpPr/>
          <p:nvPr/>
        </p:nvSpPr>
        <p:spPr>
          <a:xfrm>
            <a:off x="4699000" y="1651000"/>
            <a:ext cx="4038600" cy="2730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Arial"/>
              </a:rPr>
              <a:t>Automated TLS certificate lifecycle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Auto-issue &amp; renew TLS certs for Routes/Ingress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Integrate with internal CA or Let’s Encrypt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Eliminate expired-cert outages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Certificate CRDs for declarative management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Supports wildcard &amp; SAN certificates</a:t>
            </a:r>
          </a:p>
        </p:txBody>
      </p:sp>
      <p:sp>
        <p:nvSpPr>
          <p:cNvPr id="130" name="Note"/>
          <p:cNvSpPr/>
          <p:nvPr/>
        </p:nvSpPr>
        <p:spPr>
          <a:xfrm>
            <a:off x="457200" y="4546600"/>
            <a:ext cx="8229600" cy="38100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</a:rPr>
              <a:t>Good to have — reduces operational toil &amp; strengthens security posture for production clusters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1FAB7287-1AD7-9547-8051-34EADA9FF7CB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32248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</a:rPr>
              <a:t>Network Security: Protecting Clusters with 2-Headed DNS</a:t>
            </a:r>
          </a:p>
        </p:txBody>
      </p:sp>
      <p:sp>
        <p:nvSpPr>
          <p:cNvPr id="1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/>
              </a:rPr>
              <a:t>2-Headed DNS enables external resolution — clusters must be hardened against malicious outbound traffic</a:t>
            </a:r>
          </a:p>
        </p:txBody>
      </p:sp>
      <p:sp>
        <p:nvSpPr>
          <p:cNvPr id="110" name="AIRS Header"/>
          <p:cNvSpPr/>
          <p:nvPr/>
        </p:nvSpPr>
        <p:spPr>
          <a:xfrm>
            <a:off x="4572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Prisma Cloud (Recommended)</a:t>
            </a:r>
          </a:p>
        </p:txBody>
      </p:sp>
      <p:sp>
        <p:nvSpPr>
          <p:cNvPr id="111" name="AIRS Body"/>
          <p:cNvSpPr/>
          <p:nvPr/>
        </p:nvSpPr>
        <p:spPr>
          <a:xfrm>
            <a:off x="457200" y="1651000"/>
            <a:ext cx="4038600" cy="228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/>
              </a:rPr>
              <a:t>Cloud-native network security for container platforms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Microsegmentation for pod-to-pod &amp; pod-to-external traffic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DNS-aware egress filtering — block malicious domains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Threat intelligence-driven policy enforcement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Complements Prisma Cloud runtime protection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Centralized, scalable — no manual YAML maintenance</a:t>
            </a:r>
          </a:p>
        </p:txBody>
      </p:sp>
      <p:sp>
        <p:nvSpPr>
          <p:cNvPr id="120" name="EF Header"/>
          <p:cNvSpPr/>
          <p:nvPr/>
        </p:nvSpPr>
        <p:spPr>
          <a:xfrm>
            <a:off x="46990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EgressFirewall CRD (Alternative)</a:t>
            </a:r>
          </a:p>
        </p:txBody>
      </p:sp>
      <p:sp>
        <p:nvSpPr>
          <p:cNvPr id="121" name="EF Body"/>
          <p:cNvSpPr/>
          <p:nvPr/>
        </p:nvSpPr>
        <p:spPr>
          <a:xfrm>
            <a:off x="4699000" y="1651000"/>
            <a:ext cx="4038600" cy="2286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Arial"/>
              </a:rPr>
              <a:t>OVN-Kubernetes native egress control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Per-namespace egress allow/deny rules for IPs &amp; DNS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Built into OVN-Kubernetes — no extra components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Available on new CaaS clusters out of the box</a:t>
            </a:r>
          </a:p>
          <a:p>
            <a:pPr marL="0" indent="0">
              <a:buNone/>
            </a:pPr>
            <a:endParaRPr lang="en-US" sz="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/>
              </a:rPr>
              <a:t>Limitations: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C62828"/>
                </a:solidFill>
                <a:latin typeface="Arial"/>
              </a:rPr>
              <a:t>Manual YAML-based inventory — not sustainable at scale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C62828"/>
                </a:solidFill>
                <a:latin typeface="Arial"/>
              </a:rPr>
              <a:t>Requires per-namespace maintenance as rules evolve</a:t>
            </a:r>
          </a:p>
        </p:txBody>
      </p:sp>
      <p:sp>
        <p:nvSpPr>
          <p:cNvPr id="130" name="Rec"/>
          <p:cNvSpPr/>
          <p:nvPr/>
        </p:nvSpPr>
        <p:spPr>
          <a:xfrm>
            <a:off x="457200" y="4114800"/>
            <a:ext cx="8229600" cy="82550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</a:rPr>
              <a:t>Recommendation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B3E5FC"/>
                </a:solidFill>
                <a:latin typeface="Arial"/>
              </a:rPr>
              <a:t>Prisma Cloud for centralized, scalable network security — especially critical if 2-Headed DNS is adopted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B3E5FC"/>
                </a:solidFill>
                <a:latin typeface="Arial"/>
              </a:rPr>
              <a:t>EgressFirewall CRD as interim baseline on new clusters, but plan migration to Prisma Cloud for long-term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A686B017-5F32-6C44-A1FB-4202CAAA288C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950433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Cilium CNI: eBPF-Based Networking</a:t>
            </a:r>
          </a:p>
        </p:txBody>
      </p:sp>
      <p:sp>
        <p:nvSpPr>
          <p:cNvPr id="1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3593"/>
                </a:solidFill>
                <a:latin typeface="Arial"/>
              </a:rPr>
              <a:t>Explore replacing OVN-Kubernetes with Cilium for advanced networking, security &amp; observability</a:t>
            </a:r>
          </a:p>
        </p:txBody>
      </p:sp>
      <p:sp>
        <p:nvSpPr>
          <p:cNvPr id="110" name="eBPF Header"/>
          <p:cNvSpPr/>
          <p:nvPr/>
        </p:nvSpPr>
        <p:spPr>
          <a:xfrm>
            <a:off x="457200" y="1219200"/>
            <a:ext cx="2514600" cy="381000"/>
          </a:xfrm>
          <a:prstGeom prst="roundRect">
            <a:avLst>
              <a:gd name="adj" fmla="val 8000"/>
            </a:avLst>
          </a:prstGeom>
          <a:solidFill>
            <a:srgbClr val="283593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eBPF Performance</a:t>
            </a:r>
          </a:p>
        </p:txBody>
      </p:sp>
      <p:sp>
        <p:nvSpPr>
          <p:cNvPr id="111" name="eBPF Body"/>
          <p:cNvSpPr/>
          <p:nvPr/>
        </p:nvSpPr>
        <p:spPr>
          <a:xfrm>
            <a:off x="457200" y="1651000"/>
            <a:ext cx="2514600" cy="2349500"/>
          </a:xfrm>
          <a:prstGeom prst="roundRect">
            <a:avLst>
              <a:gd name="adj" fmla="val 8000"/>
            </a:avLst>
          </a:prstGeom>
          <a:solidFill>
            <a:srgbClr val="E8EAF6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Kernel-level packet processing — bypasses iptables overhead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Lower latency &amp; higher throughput for service-to-service traffic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Identity-based network policy (not just IP-based)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L3/L4/L7 network policy enforcement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Scalable to thousands of pods without kube-proxy</a:t>
            </a:r>
          </a:p>
        </p:txBody>
      </p:sp>
      <p:sp>
        <p:nvSpPr>
          <p:cNvPr id="120" name="Mesh Header"/>
          <p:cNvSpPr/>
          <p:nvPr/>
        </p:nvSpPr>
        <p:spPr>
          <a:xfrm>
            <a:off x="3124200" y="1219200"/>
            <a:ext cx="2514600" cy="381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Native Service Mesh</a:t>
            </a:r>
          </a:p>
        </p:txBody>
      </p:sp>
      <p:sp>
        <p:nvSpPr>
          <p:cNvPr id="121" name="Mesh Body"/>
          <p:cNvSpPr/>
          <p:nvPr/>
        </p:nvSpPr>
        <p:spPr>
          <a:xfrm>
            <a:off x="3124200" y="1651000"/>
            <a:ext cx="2514600" cy="2349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Sidecar-free service mesh — no Envoy proxy overhead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mTLS encryption between services at kernel level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Traffic splitting, retries, circuit breaking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Eliminates Istio/OSSM complexity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Lower resource footprint per node</a:t>
            </a:r>
          </a:p>
        </p:txBody>
      </p:sp>
      <p:sp>
        <p:nvSpPr>
          <p:cNvPr id="130" name="Hubble Header"/>
          <p:cNvSpPr/>
          <p:nvPr/>
        </p:nvSpPr>
        <p:spPr>
          <a:xfrm>
            <a:off x="5791200" y="1219200"/>
            <a:ext cx="2514600" cy="381000"/>
          </a:xfrm>
          <a:prstGeom prst="roundRect">
            <a:avLst>
              <a:gd name="adj" fmla="val 8000"/>
            </a:avLst>
          </a:prstGeom>
          <a:solidFill>
            <a:srgbClr val="00695C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Hubble Observability</a:t>
            </a:r>
          </a:p>
        </p:txBody>
      </p:sp>
      <p:sp>
        <p:nvSpPr>
          <p:cNvPr id="131" name="Hubble Body"/>
          <p:cNvSpPr/>
          <p:nvPr/>
        </p:nvSpPr>
        <p:spPr>
          <a:xfrm>
            <a:off x="5791200" y="1651000"/>
            <a:ext cx="2514600" cy="234950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Real-time network flow visibility across all pods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Service dependency mapping &amp; topology views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DNS query monitoring &amp; HTTP metrics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Export to Prometheus/Grafana for dashboarding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Troubleshoot network issues without tcpdump</a:t>
            </a:r>
          </a:p>
        </p:txBody>
      </p:sp>
      <p:sp>
        <p:nvSpPr>
          <p:cNvPr id="140" name="Note"/>
          <p:cNvSpPr/>
          <p:nvPr/>
        </p:nvSpPr>
        <p:spPr>
          <a:xfrm>
            <a:off x="457200" y="4165600"/>
            <a:ext cx="8229600" cy="73660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</a:rPr>
              <a:t>Exploration Item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B3E5FC"/>
                </a:solidFill>
                <a:latin typeface="Arial"/>
              </a:rPr>
              <a:t>Evaluate Cilium as a replacement for OVN-Kubernetes on new CaaS clusters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B3E5FC"/>
                </a:solidFill>
                <a:latin typeface="Arial"/>
              </a:rPr>
              <a:t>Red Hat supports Cilium as a secondary CNI option on OCP 4.14+ — validate compatibility with VxRail/vSphere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124D5F2E-76A5-504B-B3A8-FF2D03E390AD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46151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Prisma Cloud: Container Security</a:t>
            </a:r>
          </a:p>
        </p:txBody>
      </p:sp>
      <p:sp>
        <p:nvSpPr>
          <p:cNvPr id="1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3593"/>
                </a:solidFill>
                <a:latin typeface="Arial"/>
              </a:rPr>
              <a:t>Palo Alto Prisma Cloud integrated for runtime security, compliance &amp; vulnerability management</a:t>
            </a:r>
          </a:p>
        </p:txBody>
      </p:sp>
      <p:sp>
        <p:nvSpPr>
          <p:cNvPr id="110" name="Col1 Header"/>
          <p:cNvSpPr/>
          <p:nvPr/>
        </p:nvSpPr>
        <p:spPr>
          <a:xfrm>
            <a:off x="457200" y="1219200"/>
            <a:ext cx="2514600" cy="38100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Runtime Protection</a:t>
            </a:r>
          </a:p>
        </p:txBody>
      </p:sp>
      <p:sp>
        <p:nvSpPr>
          <p:cNvPr id="111" name="Col1 Body"/>
          <p:cNvSpPr/>
          <p:nvPr/>
        </p:nvSpPr>
        <p:spPr>
          <a:xfrm>
            <a:off x="457200" y="1651000"/>
            <a:ext cx="2514600" cy="2159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Defender agents deployed on all OCP nodes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Real-time container anomaly detection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Process, network &amp; file system forensics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Automated incident response &amp; alerting</a:t>
            </a:r>
          </a:p>
        </p:txBody>
      </p:sp>
      <p:sp>
        <p:nvSpPr>
          <p:cNvPr id="120" name="Col2 Header"/>
          <p:cNvSpPr/>
          <p:nvPr/>
        </p:nvSpPr>
        <p:spPr>
          <a:xfrm>
            <a:off x="3124200" y="1219200"/>
            <a:ext cx="2514600" cy="3810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Vulnerability Management</a:t>
            </a:r>
          </a:p>
        </p:txBody>
      </p:sp>
      <p:sp>
        <p:nvSpPr>
          <p:cNvPr id="121" name="Col2 Body"/>
          <p:cNvSpPr/>
          <p:nvPr/>
        </p:nvSpPr>
        <p:spPr>
          <a:xfrm>
            <a:off x="3124200" y="1651000"/>
            <a:ext cx="2514600" cy="2159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Image scanning in CI/CD pipeline (pre-deploy)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Registry scanning for known CVEs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Continuous monitoring of running images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Block deployment of non-compliant images</a:t>
            </a:r>
          </a:p>
        </p:txBody>
      </p:sp>
      <p:sp>
        <p:nvSpPr>
          <p:cNvPr id="130" name="Col3 Header"/>
          <p:cNvSpPr/>
          <p:nvPr/>
        </p:nvSpPr>
        <p:spPr>
          <a:xfrm>
            <a:off x="5791200" y="1219200"/>
            <a:ext cx="2514600" cy="381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Compliance &amp; Governance</a:t>
            </a:r>
          </a:p>
        </p:txBody>
      </p:sp>
      <p:sp>
        <p:nvSpPr>
          <p:cNvPr id="131" name="Col3 Body"/>
          <p:cNvSpPr/>
          <p:nvPr/>
        </p:nvSpPr>
        <p:spPr>
          <a:xfrm>
            <a:off x="5791200" y="1651000"/>
            <a:ext cx="2514600" cy="2159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CIS benchmarks for OCP node hardening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NIST &amp; Boeing-specific compliance policies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Automated compliance reports &amp; audit trails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SCC policy enforcement integration</a:t>
            </a:r>
          </a:p>
        </p:txBody>
      </p:sp>
      <p:sp>
        <p:nvSpPr>
          <p:cNvPr id="140" name="Integration"/>
          <p:cNvSpPr/>
          <p:nvPr/>
        </p:nvSpPr>
        <p:spPr>
          <a:xfrm>
            <a:off x="457200" y="40005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</a:rPr>
              <a:t>Integration with OCP Cluster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B3E5FC"/>
                </a:solidFill>
                <a:latin typeface="Arial"/>
              </a:rPr>
              <a:t>Prisma Cloud Console (SaaS) connects to OCP via Defender DaemonSet deployed by KCS OCP team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B3E5FC"/>
                </a:solidFill>
                <a:latin typeface="Arial"/>
              </a:rPr>
              <a:t>CVE reports from Prisma Cloud fed into CAIRO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5109E041-8B55-4B4B-A1E5-FB0126BE62D6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20499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2-Headed DNS: Architecture Decision Required</a:t>
            </a:r>
          </a:p>
        </p:txBody>
      </p:sp>
      <p:sp>
        <p:nvSpPr>
          <p:cNvPr id="2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Arial"/>
              </a:rPr>
              <a:t>Forward proxy deprecation requires a new DNS strategy for OCP clusters</a:t>
            </a:r>
          </a:p>
        </p:txBody>
      </p:sp>
      <p:sp>
        <p:nvSpPr>
          <p:cNvPr id="210" name="What Header"/>
          <p:cNvSpPr/>
          <p:nvPr/>
        </p:nvSpPr>
        <p:spPr>
          <a:xfrm>
            <a:off x="457200" y="1219200"/>
            <a:ext cx="8229600" cy="355600"/>
          </a:xfrm>
          <a:prstGeom prst="roundRect">
            <a:avLst>
              <a:gd name="adj" fmla="val 8000"/>
            </a:avLst>
          </a:prstGeom>
          <a:solidFill>
            <a:srgbClr val="283593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What is 2-Headed DNS?</a:t>
            </a:r>
          </a:p>
        </p:txBody>
      </p:sp>
      <p:sp>
        <p:nvSpPr>
          <p:cNvPr id="211" name="What Body"/>
          <p:cNvSpPr/>
          <p:nvPr/>
        </p:nvSpPr>
        <p:spPr>
          <a:xfrm>
            <a:off x="457200" y="1625600"/>
            <a:ext cx="8229600" cy="698500"/>
          </a:xfrm>
          <a:prstGeom prst="roundRect">
            <a:avLst>
              <a:gd name="adj" fmla="val 8000"/>
            </a:avLst>
          </a:prstGeom>
          <a:solidFill>
            <a:srgbClr val="E8EAF6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 DNS resolver configuration that allows servers to resolve </a:t>
            </a:r>
            <a:r>
              <a:rPr lang="en-US" sz="1000" b="1" dirty="0">
                <a:solidFill>
                  <a:srgbClr val="283593"/>
                </a:solidFill>
                <a:latin typeface="Arial"/>
              </a:rPr>
              <a:t>both internal corporate domains and internet domains</a:t>
            </a:r>
            <a:r>
              <a:rPr lang="en-US" sz="1000" dirty="0">
                <a:solidFill>
                  <a:srgbClr val="333333"/>
                </a:solidFill>
                <a:latin typeface="Arial"/>
              </a:rPr>
              <a:t> using a new set of DNS resolvers — replacing the current forward proxy path for external resolution.</a:t>
            </a:r>
          </a:p>
        </p:txBody>
      </p:sp>
      <p:sp>
        <p:nvSpPr>
          <p:cNvPr id="220" name="Why Header"/>
          <p:cNvSpPr/>
          <p:nvPr/>
        </p:nvSpPr>
        <p:spPr>
          <a:xfrm>
            <a:off x="457200" y="2476500"/>
            <a:ext cx="4038600" cy="3556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Why This Is Needed</a:t>
            </a:r>
          </a:p>
        </p:txBody>
      </p:sp>
      <p:sp>
        <p:nvSpPr>
          <p:cNvPr id="221" name="Why Body"/>
          <p:cNvSpPr/>
          <p:nvPr/>
        </p:nvSpPr>
        <p:spPr>
          <a:xfrm>
            <a:off x="457200" y="2882900"/>
            <a:ext cx="4038600" cy="1397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Forward proxies being deprecated enterprise-wide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OCP clusters operate in disconnected mode (no direct internet from nodes)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App teams (e.g. GitLab CI) currently rely on forward proxies for external access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2-Headed DNS provides unified resolution without proxy dependency</a:t>
            </a:r>
          </a:p>
        </p:txBody>
      </p:sp>
      <p:sp>
        <p:nvSpPr>
          <p:cNvPr id="230" name="Impact Header"/>
          <p:cNvSpPr/>
          <p:nvPr/>
        </p:nvSpPr>
        <p:spPr>
          <a:xfrm>
            <a:off x="4699000" y="2476500"/>
            <a:ext cx="4038600" cy="3556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Impact on OCP Clusters</a:t>
            </a:r>
          </a:p>
        </p:txBody>
      </p:sp>
      <p:sp>
        <p:nvSpPr>
          <p:cNvPr id="231" name="Impact Body"/>
          <p:cNvSpPr/>
          <p:nvPr/>
        </p:nvSpPr>
        <p:spPr>
          <a:xfrm>
            <a:off x="4699000" y="2882900"/>
            <a:ext cx="4038600" cy="1397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DNS Operator config updated to use 2-Headed DNS for CoreDNS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No change to OCP node resolvers (disconnected mode)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Proxy vars not set at platform level — no cluster-wide change needed</a:t>
            </a: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rgbClr val="C62828"/>
                </a:solidFill>
                <a:latin typeface="Arial"/>
              </a:rPr>
              <a:t>App teams using forward proxies (e.g. GitLab CI jobs) must adjust their configs</a:t>
            </a:r>
          </a:p>
        </p:txBody>
      </p:sp>
      <p:sp>
        <p:nvSpPr>
          <p:cNvPr id="240" name="Decision"/>
          <p:cNvSpPr/>
          <p:nvPr/>
        </p:nvSpPr>
        <p:spPr>
          <a:xfrm>
            <a:off x="457200" y="4419600"/>
            <a:ext cx="8229600" cy="571500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</a:rPr>
              <a:t>⚠ Decision Required: Confirm 2-Headed DNS availability &amp; timeline with Network/Infra team</a:t>
            </a:r>
          </a:p>
          <a:p>
            <a:pPr algn="ctr">
              <a:buNone/>
            </a:pPr>
            <a:r>
              <a:rPr lang="en-US" sz="900" dirty="0">
                <a:solidFill>
                  <a:srgbClr val="FFCDD2"/>
                </a:solidFill>
                <a:latin typeface="Arial"/>
              </a:rPr>
              <a:t>OCP cluster provisioning is dependent on DNS resolver strategy being finalized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8D8C0F0D-63AD-8B42-97DF-DD785E6B8B23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55175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</a:rPr>
              <a:t>Prerequisites: Dell VxRail vSphere Capacity Planning</a:t>
            </a:r>
          </a:p>
        </p:txBody>
      </p:sp>
      <p:sp>
        <p:nvSpPr>
          <p:cNvPr id="1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Arial"/>
              </a:rPr>
              <a:t>KCS OCP Product Owner &amp; stakeholders must drive prerequisite conversations with Dell (VxRail manager for Boeing)</a:t>
            </a:r>
          </a:p>
        </p:txBody>
      </p:sp>
      <p:sp>
        <p:nvSpPr>
          <p:cNvPr id="110" name="Left Header"/>
          <p:cNvSpPr/>
          <p:nvPr/>
        </p:nvSpPr>
        <p:spPr>
          <a:xfrm>
            <a:off x="4572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Infrastructure Prerequisites</a:t>
            </a:r>
          </a:p>
        </p:txBody>
      </p:sp>
      <p:sp>
        <p:nvSpPr>
          <p:cNvPr id="111" name="Left Body"/>
          <p:cNvSpPr/>
          <p:nvPr/>
        </p:nvSpPr>
        <p:spPr>
          <a:xfrm>
            <a:off x="457200" y="1651000"/>
            <a:ext cx="4038600" cy="26035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Dell VxRail cluster capacity assessment for OCP workloads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vSphere compute, memory &amp; storage resource allocation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Network VLAN &amp; subnet provisioning for OCP nodes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DNS entries (api.*, *.apps.*) configured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F5 BIG-IP / Load Balancer VIPs reserved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vSphere CSI driver compatibility validated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Firewall rules &amp; proxy allowlists for Red Hat endpoints</a:t>
            </a:r>
          </a:p>
        </p:txBody>
      </p:sp>
      <p:sp>
        <p:nvSpPr>
          <p:cNvPr id="120" name="Right Header"/>
          <p:cNvSpPr/>
          <p:nvPr/>
        </p:nvSpPr>
        <p:spPr>
          <a:xfrm>
            <a:off x="46990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Stakeholder Actions Required</a:t>
            </a:r>
          </a:p>
        </p:txBody>
      </p:sp>
      <p:sp>
        <p:nvSpPr>
          <p:cNvPr id="121" name="Right Body"/>
          <p:cNvSpPr/>
          <p:nvPr/>
        </p:nvSpPr>
        <p:spPr>
          <a:xfrm>
            <a:off x="4699000" y="1651000"/>
            <a:ext cx="4038600" cy="2603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/>
              </a:rPr>
              <a:t>KCS OCP Product Owner: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Initiate capacity planning discussions with Dell VxRail team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Define resource requirements (CPU, RAM, storage per cluster)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Secure budget approval for additional VxRail capacity (if needed)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/>
              </a:rPr>
              <a:t>Key Stakeholders: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Dell VxRail Engineering (infrastructure provider)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Boeing Infra/Network team (VLAN, firewall, DNS)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Security team (firewall rules, compliance sign-off)</a:t>
            </a:r>
          </a:p>
        </p:txBody>
      </p:sp>
      <p:sp>
        <p:nvSpPr>
          <p:cNvPr id="130" name="Callout"/>
          <p:cNvSpPr/>
          <p:nvPr/>
        </p:nvSpPr>
        <p:spPr>
          <a:xfrm>
            <a:off x="457200" y="4419600"/>
            <a:ext cx="8229600" cy="508000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</a:rPr>
              <a:t>⚠ Pilot cluster deployment is blocked until all prerequisites are confirmed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8ECBF511-C3E5-C54E-A25C-FEDEA12BF04B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665120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Next Steps: Pilot Cluster Deployment</a:t>
            </a:r>
          </a:p>
        </p:txBody>
      </p:sp>
      <p:sp>
        <p:nvSpPr>
          <p:cNvPr id="2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/>
              </a:rPr>
              <a:t>Contingent on all Dell VxRail / vSphere prerequisites being met</a:t>
            </a:r>
          </a:p>
        </p:txBody>
      </p:sp>
      <p:sp>
        <p:nvSpPr>
          <p:cNvPr id="210" name="Step 0"/>
          <p:cNvSpPr/>
          <p:nvPr/>
        </p:nvSpPr>
        <p:spPr>
          <a:xfrm>
            <a:off x="457200" y="121920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</a:rPr>
              <a:t>1. Prerequisites</a:t>
            </a:r>
          </a:p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</a:rPr>
              <a:t>Confirmed</a:t>
            </a:r>
          </a:p>
        </p:txBody>
      </p:sp>
      <p:sp>
        <p:nvSpPr>
          <p:cNvPr id="220" name="Arrow 0"/>
          <p:cNvSpPr/>
          <p:nvPr/>
        </p:nvSpPr>
        <p:spPr>
          <a:xfrm>
            <a:off x="2298700" y="1397000"/>
            <a:ext cx="177800" cy="317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B300"/>
                </a:solidFill>
                <a:latin typeface="Arial"/>
              </a:rPr>
              <a:t>▶</a:t>
            </a:r>
          </a:p>
        </p:txBody>
      </p:sp>
      <p:sp>
        <p:nvSpPr>
          <p:cNvPr id="211" name="Step 1"/>
          <p:cNvSpPr/>
          <p:nvPr/>
        </p:nvSpPr>
        <p:spPr>
          <a:xfrm>
            <a:off x="2514600" y="121920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</a:rPr>
              <a:t>2. Pilot Cluster</a:t>
            </a:r>
          </a:p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</a:rPr>
              <a:t>Provisioned</a:t>
            </a:r>
          </a:p>
        </p:txBody>
      </p:sp>
      <p:sp>
        <p:nvSpPr>
          <p:cNvPr id="221" name="Arrow 1"/>
          <p:cNvSpPr/>
          <p:nvPr/>
        </p:nvSpPr>
        <p:spPr>
          <a:xfrm>
            <a:off x="4356100" y="1397000"/>
            <a:ext cx="177800" cy="317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B300"/>
                </a:solidFill>
                <a:latin typeface="Arial"/>
              </a:rPr>
              <a:t>▶</a:t>
            </a:r>
          </a:p>
        </p:txBody>
      </p:sp>
      <p:sp>
        <p:nvSpPr>
          <p:cNvPr id="212" name="Step 2"/>
          <p:cNvSpPr/>
          <p:nvPr/>
        </p:nvSpPr>
        <p:spPr>
          <a:xfrm>
            <a:off x="4572000" y="121920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</a:rPr>
              <a:t>3. Validation</a:t>
            </a:r>
          </a:p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222" name="Arrow 2"/>
          <p:cNvSpPr/>
          <p:nvPr/>
        </p:nvSpPr>
        <p:spPr>
          <a:xfrm>
            <a:off x="6413500" y="1397000"/>
            <a:ext cx="177800" cy="317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B300"/>
                </a:solidFill>
                <a:latin typeface="Arial"/>
              </a:rPr>
              <a:t>▶</a:t>
            </a:r>
          </a:p>
        </p:txBody>
      </p:sp>
      <p:sp>
        <p:nvSpPr>
          <p:cNvPr id="213" name="Step 3"/>
          <p:cNvSpPr/>
          <p:nvPr/>
        </p:nvSpPr>
        <p:spPr>
          <a:xfrm>
            <a:off x="6629400" y="121920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B3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</a:rPr>
              <a:t>4. Production</a:t>
            </a:r>
          </a:p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</a:rPr>
              <a:t>Rollout</a:t>
            </a:r>
          </a:p>
        </p:txBody>
      </p:sp>
      <p:sp>
        <p:nvSpPr>
          <p:cNvPr id="230" name="Pilot Header"/>
          <p:cNvSpPr/>
          <p:nvPr/>
        </p:nvSpPr>
        <p:spPr>
          <a:xfrm>
            <a:off x="457200" y="2082800"/>
            <a:ext cx="4038600" cy="355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Pilot Cluster Scope</a:t>
            </a:r>
          </a:p>
        </p:txBody>
      </p:sp>
      <p:sp>
        <p:nvSpPr>
          <p:cNvPr id="231" name="Pilot Body"/>
          <p:cNvSpPr/>
          <p:nvPr/>
        </p:nvSpPr>
        <p:spPr>
          <a:xfrm>
            <a:off x="457200" y="2489200"/>
            <a:ext cx="4038600" cy="20701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Deploy 1 non-production OCP cluster on VxRail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3 control plane + 3 infra + 3 worker nodes (HA)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Validate Day-2 operations (GitOps, monitoring, backups)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Onboard 1–2 pilot applications for testing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Validate vSphere CSI storage integration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Document lessons learned for production scale-out</a:t>
            </a:r>
          </a:p>
        </p:txBody>
      </p:sp>
      <p:sp>
        <p:nvSpPr>
          <p:cNvPr id="240" name="Success Header"/>
          <p:cNvSpPr/>
          <p:nvPr/>
        </p:nvSpPr>
        <p:spPr>
          <a:xfrm>
            <a:off x="4699000" y="2082800"/>
            <a:ext cx="4038600" cy="3556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Success Criteria for Production Go</a:t>
            </a:r>
          </a:p>
        </p:txBody>
      </p:sp>
      <p:sp>
        <p:nvSpPr>
          <p:cNvPr id="241" name="Success Body"/>
          <p:cNvSpPr/>
          <p:nvPr/>
        </p:nvSpPr>
        <p:spPr>
          <a:xfrm>
            <a:off x="4699000" y="2489200"/>
            <a:ext cx="4038600" cy="20701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Cluster stable for 4+ weeks under pilot workload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Upgrade path tested (minor version validated)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Monitoring &amp; alerting operational (Prometheus/Grafana)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Centralized logging with Splunk integration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Backup is on the app owner (not cluster-level)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App team sign-off on pilot application performance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Security compliance review passed</a:t>
            </a:r>
          </a:p>
        </p:txBody>
      </p:sp>
      <p:sp>
        <p:nvSpPr>
          <p:cNvPr id="250" name="Timeline"/>
          <p:cNvSpPr/>
          <p:nvPr/>
        </p:nvSpPr>
        <p:spPr>
          <a:xfrm>
            <a:off x="457200" y="4699000"/>
            <a:ext cx="8229600" cy="317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i="1" dirty="0">
                <a:solidFill>
                  <a:srgbClr val="90CAF9"/>
                </a:solidFill>
                <a:latin typeface="Arial"/>
              </a:rPr>
              <a:t>Target: Pilot cluster within 4–6 weeks of prerequisite completion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4ED9F45C-5D64-FD4D-82F3-97B525362271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47265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</a:rPr>
              <a:t>Addendum: Cost Showback &amp; Cluster Tenancy</a:t>
            </a:r>
          </a:p>
        </p:txBody>
      </p:sp>
      <p:sp>
        <p:nvSpPr>
          <p:cNvPr id="101" name="Banner"/>
          <p:cNvSpPr/>
          <p:nvPr/>
        </p:nvSpPr>
        <p:spPr>
          <a:xfrm>
            <a:off x="457200" y="736600"/>
            <a:ext cx="8229600" cy="355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/>
              </a:rPr>
              <a:t>Not in KCS scope — for Product Owner &amp; Stakeholders to define</a:t>
            </a:r>
          </a:p>
        </p:txBody>
      </p:sp>
      <p:sp>
        <p:nvSpPr>
          <p:cNvPr id="110" name="Cost Header"/>
          <p:cNvSpPr/>
          <p:nvPr/>
        </p:nvSpPr>
        <p:spPr>
          <a:xfrm>
            <a:off x="4572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Cost Showback Model</a:t>
            </a:r>
          </a:p>
        </p:txBody>
      </p:sp>
      <p:sp>
        <p:nvSpPr>
          <p:cNvPr id="111" name="Cost Body"/>
          <p:cNvSpPr/>
          <p:nvPr/>
        </p:nvSpPr>
        <p:spPr>
          <a:xfrm>
            <a:off x="457200" y="1651000"/>
            <a:ext cx="4038600" cy="2413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Arial"/>
              </a:rPr>
              <a:t>How do we allocate platform costs to consuming teams?</a:t>
            </a:r>
          </a:p>
          <a:p>
            <a:pPr marL="0" indent="0">
              <a:buNone/>
            </a:pPr>
            <a:endParaRPr lang="en-US" sz="400" dirty="0"/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Shared clusters: cost split by namespace resource quotas (CPU/memory)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Dedicated clusters: full infrastructure cost to owning BU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Platform overhead (control plane, monitoring) as shared service cost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ESATS ID used as cost attribution key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GSEP ServiceNow dashboard for showback reporting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Reporting cadence &amp; governance model TBD (Finance &amp; Product Owner)</a:t>
            </a:r>
          </a:p>
        </p:txBody>
      </p:sp>
      <p:sp>
        <p:nvSpPr>
          <p:cNvPr id="120" name="Tenancy Header"/>
          <p:cNvSpPr/>
          <p:nvPr/>
        </p:nvSpPr>
        <p:spPr>
          <a:xfrm>
            <a:off x="4699000" y="1219200"/>
            <a:ext cx="4038600" cy="3810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Cluster Tenancy Decision</a:t>
            </a:r>
          </a:p>
        </p:txBody>
      </p:sp>
      <p:sp>
        <p:nvSpPr>
          <p:cNvPr id="121" name="Tenancy Body"/>
          <p:cNvSpPr/>
          <p:nvPr/>
        </p:nvSpPr>
        <p:spPr>
          <a:xfrm>
            <a:off x="4699000" y="1651000"/>
            <a:ext cx="4038600" cy="2413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Arial"/>
              </a:rPr>
              <a:t>Shared vs. Dedicated — when does a team need their own cluster?</a:t>
            </a:r>
          </a:p>
          <a:p>
            <a:pPr marL="0" indent="0">
              <a:buNone/>
            </a:pPr>
            <a:endParaRPr lang="en-US" sz="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/>
              </a:rPr>
              <a:t>Shared cluster (collocate):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Standard workloads, no special licensing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Namespace-level isolation is sufficient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Tolerant of 2-headed DNS configuration</a:t>
            </a:r>
          </a:p>
          <a:p>
            <a:pPr marL="0" indent="0">
              <a:buNone/>
            </a:pPr>
            <a:endParaRPr lang="en-US" sz="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/>
              </a:rPr>
              <a:t>Dedicated cluster (required when):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ITAR or export-controlled workloads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Software license restrictions (per-node/per-cluster)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Elevated access requirements (cluster-admin level)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/>
              </a:rPr>
              <a:t>Regulatory or compliance isolation mandates</a:t>
            </a:r>
          </a:p>
        </p:txBody>
      </p:sp>
      <p:sp>
        <p:nvSpPr>
          <p:cNvPr id="130" name="Callout"/>
          <p:cNvSpPr/>
          <p:nvPr/>
        </p:nvSpPr>
        <p:spPr>
          <a:xfrm>
            <a:off x="457200" y="4241800"/>
            <a:ext cx="8229600" cy="69850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</a:rPr>
              <a:t>Action Required from Product Owner &amp; Stakeholders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B3E5FC"/>
                </a:solidFill>
                <a:latin typeface="Arial"/>
              </a:rPr>
              <a:t>Define showback model &amp; reporting cadence with Finance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B3E5FC"/>
                </a:solidFill>
                <a:latin typeface="Arial"/>
              </a:rPr>
              <a:t>Establish tenancy criteria checklist for teams requesting CaaS clusters</a:t>
            </a:r>
          </a:p>
        </p:txBody>
      </p:sp>
      <p:sp>
        <p:nvSpPr>
          <p:cNvPr id="2" name="SlideNumber">
            <a:extLst>
              <a:ext uri="{FF2B5EF4-FFF2-40B4-BE49-F238E27FC236}">
                <a16:creationId xmlns:a16="http://schemas.microsoft.com/office/drawing/2014/main" id="{20873BFF-CDB1-E849-85EB-32A62A588CFE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07055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Ownership (RACI Highlights)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R = Responsible | A = Accountable | C = Consulted | I = Informed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KCS OCP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Infra/Net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provisioning &amp; installation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VMware resource pool &amp; storage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creation (GSEP metadata)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OpenShift upgrades &amp; patching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policy enforcement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deployment &amp; pipelines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data backup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image maintenance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Number">
            <a:extLst>
              <a:ext uri="{FF2B5EF4-FFF2-40B4-BE49-F238E27FC236}">
                <a16:creationId xmlns:a16="http://schemas.microsoft.com/office/drawing/2014/main" id="{4BF63A43-A04B-254D-A68D-E875B87F1851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 or service requests, contact: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dl-caas@boeing.com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Requests: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GSEP (Internal ServiceNow Portal)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KCS CAAS Team | Service Plan v1.0 | Internal Use Only | 2026</a:t>
            </a:r>
            <a:endParaRPr lang="en-US" sz="1100" dirty="0"/>
          </a:p>
        </p:txBody>
      </p:sp>
      <p:sp>
        <p:nvSpPr>
          <p:cNvPr id="8" name="SlideNumber">
            <a:extLst>
              <a:ext uri="{FF2B5EF4-FFF2-40B4-BE49-F238E27FC236}">
                <a16:creationId xmlns:a16="http://schemas.microsoft.com/office/drawing/2014/main" id="{CF56B5D1-458D-A14B-BCCE-3FCFFF26E88C}"/>
              </a:ext>
            </a:extLst>
          </p:cNvPr>
          <p:cNvSpPr txBox="1"/>
          <p:nvPr/>
        </p:nvSpPr>
        <p:spPr>
          <a:xfrm>
            <a:off x="8534400" y="4826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0000"/>
                </a:solidFill>
                <a:latin typeface="Arial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474F31-72AD-8E40-94AD-6DF089CA6E06}"/>
              </a:ext>
            </a:extLst>
          </p:cNvPr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1F4E79"/>
                </a:solidFill>
                <a:latin typeface="Arial"/>
                <a:cs typeface="Arial"/>
              </a:rPr>
              <a:t>Network Security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194C2-42F5-D24B-B675-A287CD907523}"/>
              </a:ext>
            </a:extLst>
          </p:cNvPr>
          <p:cNvSpPr txBox="1"/>
          <p:nvPr/>
        </p:nvSpPr>
        <p:spPr>
          <a:xfrm>
            <a:off x="457200" y="7112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64748B"/>
                </a:solidFill>
                <a:latin typeface="Arial"/>
                <a:cs typeface="Arial"/>
              </a:rPr>
              <a:t>Cilium vs Calico (Tigera) vs Prisma Cloud — Kubernetes container network security capabilities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D11751-A860-904D-AAC2-4779AF6E4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870310"/>
              </p:ext>
            </p:extLst>
          </p:nvPr>
        </p:nvGraphicFramePr>
        <p:xfrm>
          <a:off x="457200" y="1066800"/>
          <a:ext cx="8229600" cy="378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299678039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524328479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90850701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2411947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Capability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Cilium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Calico (Tigera)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Prisma Cloud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3141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DNS-Aware Egress Filtering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Native FQDN-based policies via DNS proxy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DNS policies + network sets + threat feeds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Not a core feature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7963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Microsegmentation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eBPF identity-based, label selectors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Label-based, tiered policies, staged rollout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92400E"/>
                          </a:solidFill>
                          <a:latin typeface="Arial"/>
                          <a:cs typeface="Arial"/>
                        </a:rPr>
                        <a:t>Identity-based, east-west only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5179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L7 Protocol Filtering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HTTP, gRPC, Kafka, DNS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HTTP, gRPC (Enterprise/Cloud)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Not supported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16006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Egress Gateway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Dedicated egress gateway with SNAT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Egress gateway with fixed routable IPs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Not supported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52626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Threat Intelligence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Community-driven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Dynamic threat feed 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92400E"/>
                          </a:solidFill>
                          <a:latin typeface="Arial"/>
                          <a:cs typeface="Arial"/>
                        </a:rPr>
                        <a:t>Separate product (</a:t>
                      </a:r>
                      <a:r>
                        <a:rPr lang="en-US" sz="900" b="0" dirty="0" err="1">
                          <a:solidFill>
                            <a:srgbClr val="92400E"/>
                          </a:solidFill>
                          <a:latin typeface="Arial"/>
                          <a:cs typeface="Arial"/>
                        </a:rPr>
                        <a:t>WildFire</a:t>
                      </a:r>
                      <a:r>
                        <a:rPr lang="en-US" sz="900" b="0" dirty="0">
                          <a:solidFill>
                            <a:srgbClr val="92400E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75685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Observability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Hubble flow visibility + metrics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Service graph, flow/DNS/L7 logs, Kibana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Runtime alerts, compliance dashboards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71723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OpenShift Integration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Supported CNI, Red Hat certified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Supported CNI, Red Hat certified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92400E"/>
                          </a:solidFill>
                          <a:latin typeface="Arial"/>
                          <a:cs typeface="Arial"/>
                        </a:rPr>
                        <a:t>Defender DaemonSet (agent)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99836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Policy Management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CiliumNetworkPolicy CRDs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Tiered RBAC, staged policies, global rules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Centralized UI, rule-based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217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9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725159937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36B78B-E620-EC49-8728-CD671EFECE8B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2602</Words>
  <Application>Microsoft Macintosh PowerPoint</Application>
  <PresentationFormat>On-screen Show (16:9)</PresentationFormat>
  <Paragraphs>558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 [1774725159937]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OpenShift CaaS - Architecture &amp; Flow Diagrams</dc:title>
  <dc:subject>Service Plan v1.0</dc:subject>
  <dc:creator>KCS CAAS Team</dc:creator>
  <cp:lastModifiedBy>Lateef Onifade</cp:lastModifiedBy>
  <cp:revision>13</cp:revision>
  <dcterms:created xsi:type="dcterms:W3CDTF">2026-03-28T17:08:14Z</dcterms:created>
  <dcterms:modified xsi:type="dcterms:W3CDTF">2026-03-30T04:13:37Z</dcterms:modified>
</cp:coreProperties>
</file>